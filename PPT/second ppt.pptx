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48" r:id="rId4"/>
  </p:sldMasterIdLst>
  <p:notesMasterIdLst>
    <p:notesMasterId r:id="rId39"/>
  </p:notesMasterIdLst>
  <p:sldIdLst>
    <p:sldId id="256" r:id="rId5"/>
    <p:sldId id="277" r:id="rId6"/>
    <p:sldId id="278" r:id="rId7"/>
    <p:sldId id="325" r:id="rId8"/>
    <p:sldId id="326" r:id="rId9"/>
    <p:sldId id="281" r:id="rId10"/>
    <p:sldId id="282" r:id="rId11"/>
    <p:sldId id="341" r:id="rId12"/>
    <p:sldId id="406" r:id="rId13"/>
    <p:sldId id="291" r:id="rId14"/>
    <p:sldId id="407" r:id="rId15"/>
    <p:sldId id="342" r:id="rId16"/>
    <p:sldId id="327" r:id="rId17"/>
    <p:sldId id="365" r:id="rId18"/>
    <p:sldId id="403" r:id="rId19"/>
    <p:sldId id="392" r:id="rId20"/>
    <p:sldId id="393" r:id="rId21"/>
    <p:sldId id="405" r:id="rId22"/>
    <p:sldId id="367" r:id="rId23"/>
    <p:sldId id="368" r:id="rId24"/>
    <p:sldId id="369" r:id="rId25"/>
    <p:sldId id="409" r:id="rId26"/>
    <p:sldId id="371" r:id="rId27"/>
    <p:sldId id="372" r:id="rId28"/>
    <p:sldId id="373" r:id="rId29"/>
    <p:sldId id="374" r:id="rId30"/>
    <p:sldId id="375" r:id="rId31"/>
    <p:sldId id="376" r:id="rId32"/>
    <p:sldId id="377" r:id="rId33"/>
    <p:sldId id="410" r:id="rId34"/>
    <p:sldId id="412" r:id="rId35"/>
    <p:sldId id="383" r:id="rId36"/>
    <p:sldId id="366" r:id="rId37"/>
    <p:sldId id="399"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471" autoAdjust="0"/>
    <p:restoredTop sz="94660"/>
  </p:normalViewPr>
  <p:slideViewPr>
    <p:cSldViewPr snapToGrid="0">
      <p:cViewPr varScale="1">
        <p:scale>
          <a:sx n="107" d="100"/>
          <a:sy n="107" d="100"/>
        </p:scale>
        <p:origin x="666" y="9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2ADB1-275D-430A-89EE-5C7E6CFF6FF2}" type="datetimeFigureOut">
              <a:rPr lang="en-US" smtClean="0"/>
              <a:t>11/26/2025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25628-3A68-42F4-BA86-981817953149}" type="slidenum">
              <a:rPr lang="en-US" smtClean="0"/>
              <a:t>‹#›</a:t>
            </a:fld>
            <a:endParaRPr lang="en-US"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AE1FE-786B-4B83-86A4-F53D629261B4}" type="slidenum">
              <a:rPr lang="en-US" smtClean="0"/>
              <a:t>27</a:t>
            </a:fld>
            <a:endParaRPr lang="en-US" dirty="0"/>
          </a:p>
        </p:txBody>
      </p:sp>
    </p:spTree>
    <p:extLst>
      <p:ext uri="{BB962C8B-B14F-4D97-AF65-F5344CB8AC3E}">
        <p14:creationId xmlns:p14="http://schemas.microsoft.com/office/powerpoint/2010/main" val="20964127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AE1FE-786B-4B83-86A4-F53D629261B4}" type="slidenum">
              <a:rPr lang="en-US" smtClean="0"/>
              <a:t>28</a:t>
            </a:fld>
            <a:endParaRPr lang="en-US" dirty="0"/>
          </a:p>
        </p:txBody>
      </p:sp>
    </p:spTree>
    <p:extLst>
      <p:ext uri="{BB962C8B-B14F-4D97-AF65-F5344CB8AC3E}">
        <p14:creationId xmlns:p14="http://schemas.microsoft.com/office/powerpoint/2010/main" val="2443259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AE1FE-786B-4B83-86A4-F53D629261B4}" type="slidenum">
              <a:rPr lang="en-US" smtClean="0"/>
              <a:t>29</a:t>
            </a:fld>
            <a:endParaRPr lang="en-US" dirty="0"/>
          </a:p>
        </p:txBody>
      </p:sp>
    </p:spTree>
    <p:extLst>
      <p:ext uri="{BB962C8B-B14F-4D97-AF65-F5344CB8AC3E}">
        <p14:creationId xmlns:p14="http://schemas.microsoft.com/office/powerpoint/2010/main" val="37600732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AE1FE-786B-4B83-86A4-F53D629261B4}" type="slidenum">
              <a:rPr lang="en-US" smtClean="0"/>
              <a:t>30</a:t>
            </a:fld>
            <a:endParaRPr lang="en-US" dirty="0"/>
          </a:p>
        </p:txBody>
      </p:sp>
    </p:spTree>
    <p:extLst>
      <p:ext uri="{BB962C8B-B14F-4D97-AF65-F5344CB8AC3E}">
        <p14:creationId xmlns:p14="http://schemas.microsoft.com/office/powerpoint/2010/main" val="30828564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AE1FE-786B-4B83-86A4-F53D629261B4}" type="slidenum">
              <a:rPr lang="en-US" smtClean="0"/>
              <a:t>31</a:t>
            </a:fld>
            <a:endParaRPr lang="en-US" dirty="0"/>
          </a:p>
        </p:txBody>
      </p:sp>
    </p:spTree>
    <p:extLst>
      <p:ext uri="{BB962C8B-B14F-4D97-AF65-F5344CB8AC3E}">
        <p14:creationId xmlns:p14="http://schemas.microsoft.com/office/powerpoint/2010/main" val="37578132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AE1FE-786B-4B83-86A4-F53D629261B4}" type="slidenum">
              <a:rPr lang="en-US" smtClean="0"/>
              <a:t>32</a:t>
            </a:fld>
            <a:endParaRPr lang="en-US" dirty="0"/>
          </a:p>
        </p:txBody>
      </p:sp>
    </p:spTree>
    <p:extLst>
      <p:ext uri="{BB962C8B-B14F-4D97-AF65-F5344CB8AC3E}">
        <p14:creationId xmlns:p14="http://schemas.microsoft.com/office/powerpoint/2010/main" val="1549772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005E26E-BCB2-4FD5-8FD5-81A5EAE94C21}" type="datetime1">
              <a:rPr lang="en-US" smtClean="0"/>
              <a:t>11/26/2025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85C470-CD19-455C-B830-6D252EAD7FE5}" type="datetime1">
              <a:rPr lang="en-US" smtClean="0"/>
              <a:t>11/26/2025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F85C43C-50D9-4F49-A136-0EFF292F93ED}" type="datetime1">
              <a:rPr lang="en-US" smtClean="0"/>
              <a:t>11/26/2025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53B1A3-0AEF-4064-A724-D27D660C8653}" type="datetime1">
              <a:rPr lang="en-US" smtClean="0"/>
              <a:t>11/26/2025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D5D0F2-BF66-4A24-9384-A0129B196518}" type="datetime1">
              <a:rPr lang="en-US" smtClean="0"/>
              <a:t>11/26/2025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318A6C-4F6B-48D2-BDB0-D7413B3FDB0A}" type="datetime1">
              <a:rPr lang="en-US" smtClean="0"/>
              <a:t>11/26/2025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01ECED-6ECE-4989-B917-9D4D7E6D3C76}" type="datetime1">
              <a:rPr lang="en-US" smtClean="0"/>
              <a:t>11/26/2025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3B570E1-CB40-488E-8C6F-EF4211DFFCB0}" type="datetime1">
              <a:rPr lang="en-US" smtClean="0"/>
              <a:t>11/26/2025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1CEB6AF-9F5C-43BE-879E-CB9514111250}" type="datetime1">
              <a:rPr lang="en-US" smtClean="0"/>
              <a:t>11/26/2025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C2E9B8-0487-42E4-B571-744A3D775783}" type="datetime1">
              <a:rPr lang="en-US" smtClean="0"/>
              <a:t>11/26/2025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52E32D-1E84-43FD-8158-FFFE757EB0E8}" type="datetime1">
              <a:rPr lang="en-US" smtClean="0"/>
              <a:t>11/26/2025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6000">
              <a:schemeClr val="accent3">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7EE424C-FCA3-4EDD-B274-8E055D649B7D}" type="datetime1">
              <a:rPr lang="en-US" smtClean="0"/>
              <a:t>11/26/2025</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hyperlink" Target="https://doi.org/10.3390/electronics13163216" TargetMode="External"/><Relationship Id="rId3" Type="http://schemas.openxmlformats.org/officeDocument/2006/relationships/hyperlink" Target="https://www.mdpi.com/1424-8220/23/14/6459?utm_source=chatgpt.com" TargetMode="External"/><Relationship Id="rId7" Type="http://schemas.openxmlformats.org/officeDocument/2006/relationships/hyperlink" Target="https://www.sciencedirect.com/science/article/abs/pii/S2542660523000288?utm_source=chatgpt.com" TargetMode="External"/><Relationship Id="rId2" Type="http://schemas.openxmlformats.org/officeDocument/2006/relationships/hyperlink" Target="https://doi.org/10.3390/s23146459" TargetMode="External"/><Relationship Id="rId1" Type="http://schemas.openxmlformats.org/officeDocument/2006/relationships/slideLayout" Target="../slideLayouts/slideLayout2.xml"/><Relationship Id="rId6" Type="http://schemas.openxmlformats.org/officeDocument/2006/relationships/hyperlink" Target="https://doi.org/10.1016/j.something.S2542660523000288" TargetMode="External"/><Relationship Id="rId11" Type="http://schemas.openxmlformats.org/officeDocument/2006/relationships/hyperlink" Target="https://www.sciencedirect.com/science/article/abs/pii/S0952197623015920?utm_source=chatgpt.com" TargetMode="External"/><Relationship Id="rId5" Type="http://schemas.openxmlformats.org/officeDocument/2006/relationships/hyperlink" Target="https://www.mdpi.com/1424-8220/23/21/8741?utm_source=chatgpt.com" TargetMode="External"/><Relationship Id="rId10" Type="http://schemas.openxmlformats.org/officeDocument/2006/relationships/hyperlink" Target="https://doi.org/10.1016/j.ins.2023.09.062" TargetMode="External"/><Relationship Id="rId4" Type="http://schemas.openxmlformats.org/officeDocument/2006/relationships/hyperlink" Target="https://doi.org/10.3390/s23218741" TargetMode="External"/><Relationship Id="rId9" Type="http://schemas.openxmlformats.org/officeDocument/2006/relationships/hyperlink" Target="https://www.mdpi.com/2079-9292/13/16/3216?utm_source=chatgpt.com" TargetMode="External"/></Relationships>
</file>

<file path=ppt/slides/_rels/slide34.xml.rels><?xml version="1.0" encoding="UTF-8" standalone="yes"?>
<Relationships xmlns="http://schemas.openxmlformats.org/package/2006/relationships"><Relationship Id="rId8" Type="http://schemas.openxmlformats.org/officeDocument/2006/relationships/hyperlink" Target="https://arxiv.org/abs/2304.06370" TargetMode="External"/><Relationship Id="rId3" Type="http://schemas.openxmlformats.org/officeDocument/2006/relationships/hyperlink" Target="https://ui.adsabs.harvard.edu/abs/2023SPIE12701E..10K/abstract?utm_source=chatgpt.com" TargetMode="External"/><Relationship Id="rId7" Type="http://schemas.openxmlformats.org/officeDocument/2006/relationships/hyperlink" Target="https://www.nature.com/articles/s41598-025-08475-4?utm_source=chatgpt.com" TargetMode="External"/><Relationship Id="rId2" Type="http://schemas.openxmlformats.org/officeDocument/2006/relationships/hyperlink" Target="https://doi.org/10.1117/12.XXXXX" TargetMode="External"/><Relationship Id="rId1" Type="http://schemas.openxmlformats.org/officeDocument/2006/relationships/slideLayout" Target="../slideLayouts/slideLayout2.xml"/><Relationship Id="rId6" Type="http://schemas.openxmlformats.org/officeDocument/2006/relationships/hyperlink" Target="https://doi.org/10.1038/s41598-025-08475-4" TargetMode="External"/><Relationship Id="rId11" Type="http://schemas.openxmlformats.org/officeDocument/2006/relationships/hyperlink" Target="https://journalofbigdata.springeropen.com/articles/10.1186/s40537-024-00890-0?utm_source=chatgpt.com" TargetMode="External"/><Relationship Id="rId5" Type="http://schemas.openxmlformats.org/officeDocument/2006/relationships/hyperlink" Target="https://www.researchgate.net/publication/386586492_Lightweight_YOLO_for_distracted_driver_detection_on_edge_devices?utm_source=chatgpt.com" TargetMode="External"/><Relationship Id="rId10" Type="http://schemas.openxmlformats.org/officeDocument/2006/relationships/hyperlink" Target="https://doi.org/10.1186/s40537-024-00890-0" TargetMode="External"/><Relationship Id="rId4" Type="http://schemas.openxmlformats.org/officeDocument/2006/relationships/hyperlink" Target="https://doi.org/10.1051/matecconf/202440610001" TargetMode="External"/><Relationship Id="rId9" Type="http://schemas.openxmlformats.org/officeDocument/2006/relationships/hyperlink" Target="https://arxiv.org/abs/2304.06370?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pic>
        <p:nvPicPr>
          <p:cNvPr id="4" name="Picture 3">
            <a:extLst>
              <a:ext uri="{FF2B5EF4-FFF2-40B4-BE49-F238E27FC236}">
                <a16:creationId xmlns:a16="http://schemas.microsoft.com/office/drawing/2014/main" id="{31874E82-61DA-4A95-A467-CC8CB08C1F71}"/>
              </a:ext>
            </a:extLst>
          </p:cNvPr>
          <p:cNvPicPr>
            <a:picLocks noChangeAspect="1"/>
          </p:cNvPicPr>
          <p:nvPr/>
        </p:nvPicPr>
        <p:blipFill>
          <a:blip r:embed="rId2"/>
          <a:stretch>
            <a:fillRect/>
          </a:stretch>
        </p:blipFill>
        <p:spPr>
          <a:xfrm>
            <a:off x="0" y="0"/>
            <a:ext cx="12188726" cy="6858000"/>
          </a:xfrm>
          <a:prstGeom prst="rect">
            <a:avLst/>
          </a:prstGeom>
        </p:spPr>
      </p:pic>
      <p:sp>
        <p:nvSpPr>
          <p:cNvPr id="10" name="Rounded Rectangle 9">
            <a:extLst>
              <a:ext uri="{FF2B5EF4-FFF2-40B4-BE49-F238E27FC236}">
                <a16:creationId xmlns:a16="http://schemas.microsoft.com/office/drawing/2014/main" id="{F7BDC3DA-D9C5-4CE6-B7F8-2F4D84064973}"/>
              </a:ext>
            </a:extLst>
          </p:cNvPr>
          <p:cNvSpPr/>
          <p:nvPr/>
        </p:nvSpPr>
        <p:spPr>
          <a:xfrm>
            <a:off x="2091319" y="175771"/>
            <a:ext cx="8155340" cy="1321335"/>
          </a:xfrm>
          <a:prstGeom prst="roundRec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rgbClr val="002060"/>
                </a:solidFill>
                <a:latin typeface="Bahnschrift" panose="020B0502040204020203" pitchFamily="34" charset="0"/>
              </a:rPr>
              <a:t>Smart Driver Monitoring System with Live Alerts Using Flask YOLOv10</a:t>
            </a:r>
            <a:endParaRPr lang="en-IN" sz="3000" b="1" dirty="0">
              <a:ln w="22225">
                <a:solidFill>
                  <a:schemeClr val="accent2"/>
                </a:solidFill>
                <a:prstDash val="solid"/>
              </a:ln>
              <a:solidFill>
                <a:srgbClr val="002060"/>
              </a:solidFill>
              <a:effectLst>
                <a:glow rad="228600">
                  <a:schemeClr val="accent1">
                    <a:satMod val="175000"/>
                    <a:alpha val="40000"/>
                  </a:schemeClr>
                </a:glow>
              </a:effectLst>
              <a:latin typeface="Bahnschrift" panose="020B0502040204020203" pitchFamily="34" charset="0"/>
              <a:cs typeface="Times New Roman" panose="02020603050405020304" pitchFamily="18" charset="0"/>
            </a:endParaRPr>
          </a:p>
        </p:txBody>
      </p:sp>
    </p:spTree>
    <p:extLst>
      <p:ext uri="{BB962C8B-B14F-4D97-AF65-F5344CB8AC3E}">
        <p14:creationId xmlns:p14="http://schemas.microsoft.com/office/powerpoint/2010/main" val="2806257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88997" y="966651"/>
            <a:ext cx="9720072" cy="770709"/>
          </a:xfrm>
        </p:spPr>
        <p:txBody>
          <a:bodyPr>
            <a:normAutofit/>
          </a:bodyPr>
          <a:lstStyle/>
          <a:p>
            <a:r>
              <a:rPr lang="en-US" sz="2000" b="1" dirty="0">
                <a:solidFill>
                  <a:schemeClr val="tx2">
                    <a:lumMod val="50000"/>
                  </a:schemeClr>
                </a:solidFill>
                <a:latin typeface="Times New Roman" panose="02020603050405020304" pitchFamily="18" charset="0"/>
                <a:cs typeface="Times New Roman" panose="02020603050405020304" pitchFamily="18" charset="0"/>
              </a:rPr>
              <a:t>TABLE OF CONTENTS</a:t>
            </a:r>
          </a:p>
        </p:txBody>
      </p:sp>
      <p:sp>
        <p:nvSpPr>
          <p:cNvPr id="6" name="TextBox 5"/>
          <p:cNvSpPr txBox="1"/>
          <p:nvPr/>
        </p:nvSpPr>
        <p:spPr>
          <a:xfrm>
            <a:off x="788997" y="2031269"/>
            <a:ext cx="7130143" cy="465973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Project Description</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Problem Statement</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Objective</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Scope</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Significant</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Existing System</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Proposed System</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Architecture</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Resource Requirements</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Research Gap analysis</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Literature Survey</a:t>
            </a:r>
          </a:p>
          <a:p>
            <a:pPr marL="342900" indent="-342900" algn="just">
              <a:lnSpc>
                <a:spcPct val="150000"/>
              </a:lnSpc>
              <a:buFont typeface="Wingdings" panose="05000000000000000000" pitchFamily="2" charset="2"/>
              <a:buChar char="ü"/>
            </a:pPr>
            <a:endParaRPr lang="en-US" sz="1400" b="1"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endParaRPr lang="en-IN" sz="1400" b="1" dirty="0">
              <a:latin typeface="Times New Roman" panose="02020603050405020304" pitchFamily="18" charset="0"/>
              <a:cs typeface="Times New Roman" panose="02020603050405020304" pitchFamily="18" charset="0"/>
            </a:endParaRPr>
          </a:p>
          <a:p>
            <a:pPr lvl="2" algn="ctr">
              <a:lnSpc>
                <a:spcPct val="170000"/>
              </a:lnSpc>
              <a:buFont typeface="Wingdings" panose="05000000000000000000" pitchFamily="2" charset="2"/>
              <a:buChar char="v"/>
            </a:pPr>
            <a:endParaRPr lang="en-US" sz="1400"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4425260" y="2031270"/>
            <a:ext cx="5807746" cy="2994474"/>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Implementation</a:t>
            </a:r>
          </a:p>
          <a:p>
            <a:pPr marL="342900" lvl="1"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Model Implementation</a:t>
            </a:r>
          </a:p>
          <a:p>
            <a:pPr algn="just">
              <a:lnSpc>
                <a:spcPct val="150000"/>
              </a:lnSpc>
            </a:pPr>
            <a:r>
              <a:rPr lang="en-US" sz="1400" b="1" dirty="0">
                <a:latin typeface="Times New Roman" panose="02020603050405020304" pitchFamily="18" charset="0"/>
                <a:cs typeface="Times New Roman" panose="02020603050405020304" pitchFamily="18" charset="0"/>
              </a:rPr>
              <a:t>	1. Algorithm Definition</a:t>
            </a:r>
          </a:p>
          <a:p>
            <a:pPr algn="just">
              <a:lnSpc>
                <a:spcPct val="150000"/>
              </a:lnSpc>
            </a:pPr>
            <a:r>
              <a:rPr lang="en-US" sz="1400" b="1" dirty="0">
                <a:latin typeface="Times New Roman" panose="02020603050405020304" pitchFamily="18" charset="0"/>
                <a:cs typeface="Times New Roman" panose="02020603050405020304" pitchFamily="18" charset="0"/>
              </a:rPr>
              <a:t>	2. working Process</a:t>
            </a:r>
          </a:p>
          <a:p>
            <a:pPr algn="just">
              <a:lnSpc>
                <a:spcPct val="150000"/>
              </a:lnSpc>
            </a:pPr>
            <a:r>
              <a:rPr lang="en-US" sz="1400" b="1" dirty="0">
                <a:latin typeface="Times New Roman" panose="02020603050405020304" pitchFamily="18" charset="0"/>
                <a:cs typeface="Times New Roman" panose="02020603050405020304" pitchFamily="18" charset="0"/>
              </a:rPr>
              <a:t>✓       UMLs</a:t>
            </a:r>
          </a:p>
          <a:p>
            <a:pPr algn="just">
              <a:lnSpc>
                <a:spcPct val="150000"/>
              </a:lnSpc>
            </a:pPr>
            <a:r>
              <a:rPr lang="en-US" sz="1400" b="1" dirty="0">
                <a:latin typeface="Times New Roman" panose="02020603050405020304" pitchFamily="18" charset="0"/>
                <a:cs typeface="Times New Roman" panose="02020603050405020304" pitchFamily="18" charset="0"/>
              </a:rPr>
              <a:t>✓	Results</a:t>
            </a:r>
          </a:p>
          <a:p>
            <a:pPr algn="just">
              <a:lnSpc>
                <a:spcPct val="150000"/>
              </a:lnSpc>
            </a:pPr>
            <a:r>
              <a:rPr lang="en-US" sz="1400" b="1" dirty="0">
                <a:latin typeface="Times New Roman" panose="02020603050405020304" pitchFamily="18" charset="0"/>
                <a:cs typeface="Times New Roman" panose="02020603050405020304" pitchFamily="18" charset="0"/>
              </a:rPr>
              <a:t>✓ 	Conclusion</a:t>
            </a:r>
          </a:p>
          <a:p>
            <a:pPr algn="just">
              <a:lnSpc>
                <a:spcPct val="150000"/>
              </a:lnSpc>
            </a:pPr>
            <a:r>
              <a:rPr lang="en-US" sz="1400" b="1" dirty="0">
                <a:latin typeface="Times New Roman" panose="02020603050405020304" pitchFamily="18" charset="0"/>
                <a:cs typeface="Times New Roman" panose="02020603050405020304" pitchFamily="18" charset="0"/>
              </a:rPr>
              <a:t>✓	 References</a:t>
            </a:r>
          </a:p>
          <a:p>
            <a:pPr lvl="2">
              <a:lnSpc>
                <a:spcPct val="170000"/>
              </a:lnSpc>
            </a:pPr>
            <a:endParaRPr lang="en-US"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1741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3538293" y="339636"/>
            <a:ext cx="4671278" cy="666205"/>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PROJECT DESCRIPTION</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814251" y="1005841"/>
            <a:ext cx="10955384" cy="4613058"/>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This project presents a Smart Driver Monitoring System built using Flask and YOLOv10 to detect unsafe driver behaviors through live camera input. The system identifies multiple driver states, including distracted, drowsy, drinking, eating, phone use, safe driving, seatbelt, and smoking. The detection workflow is supported by a custom dataset and a trained YOLOv10 model that processes video frames in a browser interface. When unsafe behavior such as drowsiness or distraction is identified, the system sends a notification email to the administrator for immediate attention. The platform includes user modules such as Home, Register, Login, Detection, and Logout, providing a complete and structured interface for users. The combination of Flask on the backend and HTML, CSS, and JavaScript on the frontend ensures seamless communication between the detection model and the user interface. This system aims to assist in monitoring driver conditions and promoting safer driving practices through automated identification and alerting. Its simple design and efficient processing make it suitable for projects focused on driver behavior analysis, safety systems, and computer-vision-based monitoring frameworks.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3404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153884" y="274320"/>
            <a:ext cx="9616441" cy="1214846"/>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PROBLEM STATEMENT</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4" name="Rectangle 3"/>
          <p:cNvSpPr/>
          <p:nvPr/>
        </p:nvSpPr>
        <p:spPr>
          <a:xfrm>
            <a:off x="931815" y="1489166"/>
            <a:ext cx="10811693" cy="336656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Driver behavior errors often lead to unsafe conditions, and identifying such behaviors manually is challenging. Without automated monitoring, unsafe actions such as drowsiness, distraction, phone use, or ignoring safety practices may go unnoticed. Traditional methods lack adaptability and do not provide continuous observation. There is a need for a system that can classify driver actions accurately and respond instantly when an unsafe pattern is detected. The main problem this project addresses is the absence of a unified platform that combines behavior detection, live monitoring, and automated alerts. Additionally, there is a gap in integrating an easy-to-use interface with a strong detection model. Therefore, this project aims to build a system that identifies unsafe driver behaviors through camera-based analysis and sends notification alerts to the administrator to support timely intervention.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5511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49381" y="-3266"/>
            <a:ext cx="9616441" cy="1642654"/>
          </a:xfrm>
        </p:spPr>
        <p:txBody>
          <a:bodyPr>
            <a:normAutofit/>
          </a:bodyPr>
          <a:lstStyle/>
          <a:p>
            <a:pPr lvl="2" algn="ctr">
              <a:lnSpc>
                <a:spcPct val="170000"/>
              </a:lnSpc>
            </a:pPr>
            <a:r>
              <a:rPr lang="en-US" sz="3000" u="sng" dirty="0">
                <a:latin typeface="Times New Roman" panose="02020603050405020304" pitchFamily="18" charset="0"/>
                <a:cs typeface="Times New Roman" panose="02020603050405020304" pitchFamily="18" charset="0"/>
              </a:rPr>
              <a:t>OBJECTIVE OF PROJECT</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4" name="Rectangle 3"/>
          <p:cNvSpPr/>
          <p:nvPr/>
        </p:nvSpPr>
        <p:spPr>
          <a:xfrm>
            <a:off x="920289" y="1383190"/>
            <a:ext cx="10811693" cy="3782061"/>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primary objective of this project is to build an efficient monitoring system that can classify different driver behaviors using YOLOv10. Another objective is to integrate this model with a Flask framework to achieve smooth interaction between backend processing and the user interface. The project aims to develop a complete workflow in which users can register, log in, and start live detection through a browser. A key objective is to ensure accurate identification of unsafe behaviors, especially drowsiness and distraction, which trigger automatic email notifications to the administrator. Additional goals include presenting detection results clearly, maintaining stable live video processing, and ensuring responsive system behavior. The project also aims to provide a simple, modular structure that can be extended for future work. By combining deep learning, web technology, and automated alerts, the system aims to support research in behavior recognition and safety monitoring.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1788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24129" y="411482"/>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SCOPE</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1024129" y="1414056"/>
            <a:ext cx="10784695" cy="4613058"/>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scope of this project covers the development of an automated driver monitoring system using Flask and YOLOv10. It focuses on detecting a defined set of driver behaviors: distracted, drowsy, drinking, eating, phone use, safe driving, seatbelt, and smoking. The system operates through a live camera feed, making it suitable for continuous monitoring settings. The scope includes creating modules such as Home, Register, Login, Detection, and Logout for managing users and providing an organized interface. The backend handles model integration, frame processing, and email notifications, while the frontend presents the detection results clearly. The project also involves training or adapting a YOLOv10 model using a labeled dataset from the specified source. The alert mechanism covers unsafe conditions like drowsiness and distraction, ensuring the administrator is informed immediately. Although the system identifies multiple behaviors, its scope is limited to classification and alerting; it does not provide corrective actions or vehicle control. The project is designed for research, experimentation, and demonstration of behavior monitoring using computer vision and deep learning.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3996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141693" y="490253"/>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SIGNIFICANCE OF PROJECT</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6" name="Rectangle 5"/>
          <p:cNvSpPr/>
          <p:nvPr/>
        </p:nvSpPr>
        <p:spPr>
          <a:xfrm>
            <a:off x="840480" y="1431931"/>
            <a:ext cx="10993699" cy="3782061"/>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motivation behind developing this system comes from the need to track driver behavior using automated methods. Manual observation or traditional monitoring approaches are often limited, so there is a need for a structured system that can identify unsafe actions without depending on human supervision. Using computer vision techniques and deep learning models enables continuous behavior analysis in a more efficient manner. The intention is to create a system that can recognize specific actions such as drowsiness and distraction and then notify the administrator instantly, helping in early corrective measures. This project also offers a practical way to explore modern detection frameworks, dataset usage, model training, and alert automation. Overall, the motivation is to design a simple, effective, and accessible solution that supports driver safety and contributes to research in automated monitoring technologies.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6394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15014" y="419047"/>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EXISTING SYSTEM</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8A65B8F0-0014-4446-BBA4-489B3A48AEC4}"/>
              </a:ext>
            </a:extLst>
          </p:cNvPr>
          <p:cNvSpPr/>
          <p:nvPr/>
        </p:nvSpPr>
        <p:spPr>
          <a:xfrm>
            <a:off x="995696" y="1452203"/>
            <a:ext cx="10555327" cy="4197559"/>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Traditional driver monitoring systems mainly rely on classic computer-vision techniques and simple machine-learning algorithms. These systems often use methods such as </a:t>
            </a:r>
            <a:r>
              <a:rPr lang="en-US" dirty="0" err="1">
                <a:latin typeface="Times New Roman" panose="02020603050405020304" pitchFamily="18" charset="0"/>
                <a:cs typeface="Times New Roman" panose="02020603050405020304" pitchFamily="18" charset="0"/>
              </a:rPr>
              <a:t>Haar</a:t>
            </a:r>
            <a:r>
              <a:rPr lang="en-US" dirty="0">
                <a:latin typeface="Times New Roman" panose="02020603050405020304" pitchFamily="18" charset="0"/>
                <a:cs typeface="Times New Roman" panose="02020603050405020304" pitchFamily="18" charset="0"/>
              </a:rPr>
              <a:t> cascade classifiers for face and eye detection, HOG (Histogram of Oriented Gradients) for feature extraction, and SVM (Support Vector Machine) classifiers for behavior identification. Some systems track eye closure or head movement using threshold-based rules instead of learning from large datasets. These older approaches work by extracting handcrafted features from the video frames and then applying basic classifiers to determine whether the driver is attentive or not. While such systems can detect limited patterns like closed eyes or head tilting, they struggle to understand complex behaviors such as phone use, drinking, or multitasking. They also rely heavily on fixed lighting, stable face positions, and controlled environments. Because of these limitations, traditional systems cannot achieve high accuracy when dealing with multiple driver behaviors or varying camera conditions.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0222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76379" y="320435"/>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Disadvantages of Existing System</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8A65B8F0-0014-4446-BBA4-489B3A48AEC4}"/>
              </a:ext>
            </a:extLst>
          </p:cNvPr>
          <p:cNvSpPr/>
          <p:nvPr/>
        </p:nvSpPr>
        <p:spPr>
          <a:xfrm>
            <a:off x="818336" y="1335662"/>
            <a:ext cx="10555327" cy="336656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 Can detect only a few basic actions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Struggle with poor lighting or unusual face angles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Cannot handle multiple behaviors at the same time</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Low accuracy due to handcrafted features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Not suitable for live monitoring with fast movements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Hard to adapt to different drivers or environments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Slow processing and limited automation</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No advanced alerting or smart decision-making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0640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63701" y="309860"/>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PROPOSED SYSTEM</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B02D910-1F55-4ADA-B897-C4A48D483254}"/>
              </a:ext>
            </a:extLst>
          </p:cNvPr>
          <p:cNvSpPr/>
          <p:nvPr/>
        </p:nvSpPr>
        <p:spPr>
          <a:xfrm>
            <a:off x="838200" y="1004570"/>
            <a:ext cx="11080376" cy="5033686"/>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proposed system introduces an advanced Smart Driver Monitoring System built using Flask and a YOLOv10 detection model. Unlike older methods that depend on handcrafted features, this system uses deep learning to identify multiple driver behaviors directly from live camera input. The YOLOv10 model analyzes each frame in real time and classifies actions such as distracted driving, drowsiness, drinking, eating, phone use, seatbelt status, smoking, and safe driving. The system is integrated into a web interface that includes modules such as Home, Register, Login, Detection, and Logout. After users log in, the live detection page streams video frames to the backend, where the model processes them and returns the prediction results.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A key feature of the system is its alert mechanism. When the model detects unsafe behavior—especially drowsiness or distraction—it automatically sends a notification email to the administrator. This creates a simple but effective safety layer. The system is designed to run smoothly on a web platform, making it easy to operate while providing reliable detection accuracy. The proposed system supports research, improves interaction, and offers a more complete driver behavior analysis setup.</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0470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50254" y="94707"/>
            <a:ext cx="9720072" cy="770709"/>
          </a:xfrm>
        </p:spPr>
        <p:txBody>
          <a:bodyPr>
            <a:normAutofit/>
          </a:bodyPr>
          <a:lstStyle/>
          <a:p>
            <a:pPr lvl="2" algn="ctr">
              <a:lnSpc>
                <a:spcPct val="170000"/>
              </a:lnSpc>
            </a:pPr>
            <a:r>
              <a:rPr lang="en-US" sz="3000" u="sng" dirty="0">
                <a:latin typeface="Times New Roman" panose="02020603050405020304" pitchFamily="18" charset="0"/>
                <a:cs typeface="Times New Roman" panose="02020603050405020304" pitchFamily="18" charset="0"/>
              </a:rPr>
              <a:t>Advantages of Proposed System</a:t>
            </a:r>
          </a:p>
        </p:txBody>
      </p:sp>
      <p:sp>
        <p:nvSpPr>
          <p:cNvPr id="3" name="Rectangle 2">
            <a:extLst>
              <a:ext uri="{FF2B5EF4-FFF2-40B4-BE49-F238E27FC236}">
                <a16:creationId xmlns:a16="http://schemas.microsoft.com/office/drawing/2014/main" id="{7B02D910-1F55-4ADA-B897-C4A48D483254}"/>
              </a:ext>
            </a:extLst>
          </p:cNvPr>
          <p:cNvSpPr/>
          <p:nvPr/>
        </p:nvSpPr>
        <p:spPr>
          <a:xfrm>
            <a:off x="1125069" y="1623135"/>
            <a:ext cx="10703859" cy="336656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 Detects many driver behaviors accurately</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Works with live camera feed</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Learns features automatically through deep learning</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More reliable even in changing conditions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Sends instant alerts for unsafe behavior</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Easy to use through a simple web interface</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Supports secure login and user management</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Flexible design that can be extended in future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7374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75932" y="68069"/>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PROJECT FLOW</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0E54F19-E681-4BE3-8244-4F3DCC75DDD4}"/>
              </a:ext>
            </a:extLst>
          </p:cNvPr>
          <p:cNvPicPr/>
          <p:nvPr/>
        </p:nvPicPr>
        <p:blipFill>
          <a:blip r:embed="rId2"/>
          <a:stretch>
            <a:fillRect/>
          </a:stretch>
        </p:blipFill>
        <p:spPr>
          <a:xfrm>
            <a:off x="4325599" y="613977"/>
            <a:ext cx="2817963" cy="61759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37419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62871" y="760912"/>
            <a:ext cx="9720072" cy="770709"/>
          </a:xfrm>
        </p:spPr>
        <p:txBody>
          <a:bodyPr>
            <a:normAutofit fontScale="90000"/>
          </a:bodyPr>
          <a:lstStyle/>
          <a:p>
            <a:pPr lvl="2">
              <a:lnSpc>
                <a:spcPct val="170000"/>
              </a:lnSpc>
            </a:pPr>
            <a:r>
              <a:rPr lang="en-US" sz="3000" u="sng" dirty="0">
                <a:latin typeface="Times New Roman" panose="02020603050405020304" pitchFamily="18" charset="0"/>
                <a:cs typeface="Times New Roman" panose="02020603050405020304" pitchFamily="18" charset="0"/>
              </a:rPr>
              <a:t>Resource Requirements</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p:cNvSpPr/>
          <p:nvPr/>
        </p:nvSpPr>
        <p:spPr>
          <a:xfrm>
            <a:off x="396240" y="2256417"/>
            <a:ext cx="6096000" cy="1704569"/>
          </a:xfrm>
          <a:prstGeom prst="rect">
            <a:avLst/>
          </a:prstGeom>
        </p:spPr>
        <p:txBody>
          <a:bodyPr>
            <a:spAutoFit/>
          </a:bodyPr>
          <a:lstStyle/>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Operating System		:  Windows 7/8/10</a:t>
            </a: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Programming Language	:  Python</a:t>
            </a: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Libraries			:  Pandas, </a:t>
            </a:r>
            <a:r>
              <a:rPr lang="en-US" dirty="0" err="1">
                <a:solidFill>
                  <a:srgbClr val="000000"/>
                </a:solidFill>
                <a:latin typeface="Times New Roman" panose="02020603050405020304" pitchFamily="18" charset="0"/>
                <a:ea typeface="Times New Roman" panose="02020603050405020304" pitchFamily="18" charset="0"/>
              </a:rPr>
              <a:t>Numpy</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Times New Roman" panose="02020603050405020304" pitchFamily="18" charset="0"/>
                <a:ea typeface="Times New Roman" panose="02020603050405020304" pitchFamily="18" charset="0"/>
              </a:rPr>
              <a:t>scikit</a:t>
            </a:r>
            <a:r>
              <a:rPr lang="en-US" dirty="0">
                <a:solidFill>
                  <a:srgbClr val="000000"/>
                </a:solidFill>
                <a:latin typeface="Times New Roman" panose="02020603050405020304" pitchFamily="18" charset="0"/>
                <a:ea typeface="Times New Roman" panose="02020603050405020304" pitchFamily="18" charset="0"/>
              </a:rPr>
              <a:t>-learn.</a:t>
            </a: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IDE/Workbench		:  Visual Studio Code.</a:t>
            </a:r>
          </a:p>
        </p:txBody>
      </p:sp>
      <p:sp>
        <p:nvSpPr>
          <p:cNvPr id="5" name="Rectangle 4"/>
          <p:cNvSpPr/>
          <p:nvPr/>
        </p:nvSpPr>
        <p:spPr>
          <a:xfrm>
            <a:off x="6379029" y="1531621"/>
            <a:ext cx="5812971" cy="3154710"/>
          </a:xfrm>
          <a:prstGeom prst="rect">
            <a:avLst/>
          </a:prstGeom>
        </p:spPr>
        <p:txBody>
          <a:bodyPr wrap="square">
            <a:spAutoFit/>
          </a:bodyPr>
          <a:lstStyle/>
          <a:p>
            <a:pPr algn="just">
              <a:lnSpc>
                <a:spcPct val="150000"/>
              </a:lnSpc>
              <a:spcBef>
                <a:spcPts val="1200"/>
              </a:spcBef>
              <a:spcAft>
                <a:spcPts val="0"/>
              </a:spcAft>
            </a:pPr>
            <a:r>
              <a:rPr lang="en-US" b="1" kern="18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H/W CONFIGURATION:</a:t>
            </a:r>
            <a:endParaRPr lang="en-IN" sz="2400" b="1" kern="0" dirty="0">
              <a:solidFill>
                <a:srgbClr val="2E75B5"/>
              </a:solidFill>
              <a:latin typeface="Calibri Light" panose="020F0302020204030204" pitchFamily="34" charset="0"/>
              <a:ea typeface="SimSun" panose="02010600030101010101" pitchFamily="2" charset="-122"/>
              <a:cs typeface="Times New Roman" panose="02020603050405020304" pitchFamily="18" charset="0"/>
            </a:endParaRPr>
          </a:p>
          <a:p>
            <a:pPr indent="457200" algn="just">
              <a:lnSpc>
                <a:spcPct val="150000"/>
              </a:lnSpc>
              <a:spcBef>
                <a:spcPts val="1200"/>
              </a:spcBef>
              <a:spcAft>
                <a:spcPts val="0"/>
              </a:spcAft>
            </a:pPr>
            <a:r>
              <a:rPr lang="en-US" b="1" kern="18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Processor			- I3/Intel Processor</a:t>
            </a:r>
            <a:endParaRPr lang="en-IN" sz="2400" b="1" kern="0" dirty="0">
              <a:solidFill>
                <a:srgbClr val="2E75B5"/>
              </a:solidFill>
              <a:latin typeface="Calibri Light" panose="020F0302020204030204" pitchFamily="34" charset="0"/>
              <a:ea typeface="SimSun" panose="02010600030101010101" pitchFamily="2" charset="-122"/>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Hard Disk			- 160GB</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Key Board			- Standard Windows Keyboard</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Mouse				- Two or Three Button Mouse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Monitor			        - SVGA</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RAM				- 8GB</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653039" y="1531621"/>
            <a:ext cx="2734595" cy="507831"/>
          </a:xfrm>
          <a:prstGeom prst="rect">
            <a:avLst/>
          </a:prstGeom>
        </p:spPr>
        <p:txBody>
          <a:bodyPr wrap="none">
            <a:spAutoFit/>
          </a:bodyPr>
          <a:lstStyle/>
          <a:p>
            <a:pPr algn="just">
              <a:lnSpc>
                <a:spcPct val="150000"/>
              </a:lnSpc>
              <a:spcBef>
                <a:spcPts val="1200"/>
              </a:spcBef>
              <a:spcAft>
                <a:spcPts val="0"/>
              </a:spcAft>
            </a:pPr>
            <a:r>
              <a:rPr lang="en-IN"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S/W CONFIGURATION:</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3028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49208" y="359806"/>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RESEARCH GAP ANALYSIS</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p:cNvSpPr/>
          <p:nvPr/>
        </p:nvSpPr>
        <p:spPr>
          <a:xfrm>
            <a:off x="837816" y="920925"/>
            <a:ext cx="11025051" cy="5218736"/>
          </a:xfrm>
          <a:prstGeom prst="rect">
            <a:avLst/>
          </a:prstGeom>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Despite significant advancements in driver monitoring systems, several gaps still exist in current research and real-world applications. Many existing solutions focus on detecting only specific behaviors such as drowsiness or phone usage, lacking the ability to classify multiple unsafe actions simultaneously. Traditional systems often rely on older or less efficient models that struggle with real-time performance, limiting their use in continuous monitoring environments. Additionally, many studies emphasize offline image-based detection rather than live video processing, reducing their effectiveness in real driving scenarios.</a:t>
            </a:r>
          </a:p>
          <a:p>
            <a:pPr algn="just">
              <a:lnSpc>
                <a:spcPct val="150000"/>
              </a:lnSpc>
            </a:pPr>
            <a:r>
              <a:rPr lang="en-US" sz="1600" dirty="0">
                <a:latin typeface="Times New Roman" panose="02020603050405020304" pitchFamily="18" charset="0"/>
                <a:cs typeface="Times New Roman" panose="02020603050405020304" pitchFamily="18" charset="0"/>
              </a:rPr>
              <a:t>Another major gap is the lack of fully integrated platforms that combine detection, user management, and automated alerting. While research works present strong computer-vision techniques, they rarely include end-to-end systems with user interfaces, login modules, and live streaming </a:t>
            </a:r>
            <a:r>
              <a:rPr lang="en-US" sz="1600" dirty="0" err="1">
                <a:latin typeface="Times New Roman" panose="02020603050405020304" pitchFamily="18" charset="0"/>
                <a:cs typeface="Times New Roman" panose="02020603050405020304" pitchFamily="18" charset="0"/>
              </a:rPr>
              <a:t>features.Accurate</a:t>
            </a:r>
            <a:r>
              <a:rPr lang="en-US" sz="1600" dirty="0">
                <a:latin typeface="Times New Roman" panose="02020603050405020304" pitchFamily="18" charset="0"/>
                <a:cs typeface="Times New Roman" panose="02020603050405020304" pitchFamily="18" charset="0"/>
              </a:rPr>
              <a:t> alert mechanisms, such as email notifications for unsafe behaviors, are also missing in many existing approaches. Moreover, several models require high computational power, making deployment difficult for lightweight or practical applications.</a:t>
            </a:r>
          </a:p>
          <a:p>
            <a:pPr algn="just">
              <a:lnSpc>
                <a:spcPct val="150000"/>
              </a:lnSpc>
            </a:pPr>
            <a:r>
              <a:rPr lang="en-US" sz="1600" dirty="0">
                <a:latin typeface="Times New Roman" panose="02020603050405020304" pitchFamily="18" charset="0"/>
                <a:cs typeface="Times New Roman" panose="02020603050405020304" pitchFamily="18" charset="0"/>
              </a:rPr>
              <a:t>This project addresses these gaps by integrating a YOLOv10-based multi-class behavior detection model with a Flask web framework to deliver real-time, browser-based monitoring. It also incorporates automated email alerts for critical behaviors like drowsiness and distraction, filling the gap between research prototypes and functional, user-accessible systems. Overall, the system provides a complete, efficient, and practical solution for modern driver behavior monitoring.</a:t>
            </a:r>
          </a:p>
        </p:txBody>
      </p:sp>
    </p:spTree>
    <p:extLst>
      <p:ext uri="{BB962C8B-B14F-4D97-AF65-F5344CB8AC3E}">
        <p14:creationId xmlns:p14="http://schemas.microsoft.com/office/powerpoint/2010/main" val="530627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141692" y="669472"/>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LITERATURE SURVEY</a:t>
            </a:r>
            <a:br>
              <a:rPr lang="en-US" sz="3000" u="sng" dirty="0">
                <a:latin typeface="Times New Roman" panose="02020603050405020304" pitchFamily="18" charset="0"/>
                <a:cs typeface="Times New Roman" panose="02020603050405020304" pitchFamily="18" charset="0"/>
              </a:rPr>
            </a:b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C73C7299-A627-48C4-A5EF-1D8AE37B2A06}"/>
              </a:ext>
            </a:extLst>
          </p:cNvPr>
          <p:cNvGraphicFramePr>
            <a:graphicFrameLocks noGrp="1"/>
          </p:cNvGraphicFramePr>
          <p:nvPr>
            <p:extLst>
              <p:ext uri="{D42A27DB-BD31-4B8C-83A1-F6EECF244321}">
                <p14:modId xmlns:p14="http://schemas.microsoft.com/office/powerpoint/2010/main" val="2143886585"/>
              </p:ext>
            </p:extLst>
          </p:nvPr>
        </p:nvGraphicFramePr>
        <p:xfrm>
          <a:off x="1016186" y="942640"/>
          <a:ext cx="10333132" cy="5714036"/>
        </p:xfrm>
        <a:graphic>
          <a:graphicData uri="http://schemas.openxmlformats.org/drawingml/2006/table">
            <a:tbl>
              <a:tblPr>
                <a:tableStyleId>{ED083AE6-46FA-4A59-8FB0-9F97EB10719F}</a:tableStyleId>
              </a:tblPr>
              <a:tblGrid>
                <a:gridCol w="2583283">
                  <a:extLst>
                    <a:ext uri="{9D8B030D-6E8A-4147-A177-3AD203B41FA5}">
                      <a16:colId xmlns:a16="http://schemas.microsoft.com/office/drawing/2014/main" val="3347360664"/>
                    </a:ext>
                  </a:extLst>
                </a:gridCol>
                <a:gridCol w="2583283">
                  <a:extLst>
                    <a:ext uri="{9D8B030D-6E8A-4147-A177-3AD203B41FA5}">
                      <a16:colId xmlns:a16="http://schemas.microsoft.com/office/drawing/2014/main" val="1005915733"/>
                    </a:ext>
                  </a:extLst>
                </a:gridCol>
                <a:gridCol w="2583283">
                  <a:extLst>
                    <a:ext uri="{9D8B030D-6E8A-4147-A177-3AD203B41FA5}">
                      <a16:colId xmlns:a16="http://schemas.microsoft.com/office/drawing/2014/main" val="2474047265"/>
                    </a:ext>
                  </a:extLst>
                </a:gridCol>
                <a:gridCol w="2583283">
                  <a:extLst>
                    <a:ext uri="{9D8B030D-6E8A-4147-A177-3AD203B41FA5}">
                      <a16:colId xmlns:a16="http://schemas.microsoft.com/office/drawing/2014/main" val="1103063185"/>
                    </a:ext>
                  </a:extLst>
                </a:gridCol>
              </a:tblGrid>
              <a:tr h="352278">
                <a:tc>
                  <a:txBody>
                    <a:bodyPr/>
                    <a:lstStyle/>
                    <a:p>
                      <a:r>
                        <a:rPr lang="en-IN" sz="1600" b="1">
                          <a:latin typeface="Times New Roman" panose="02020603050405020304" pitchFamily="18" charset="0"/>
                          <a:cs typeface="Times New Roman" panose="02020603050405020304" pitchFamily="18" charset="0"/>
                        </a:rPr>
                        <a:t>Year</a:t>
                      </a:r>
                      <a:endParaRPr lang="en-IN" sz="1600">
                        <a:latin typeface="Times New Roman" panose="02020603050405020304" pitchFamily="18" charset="0"/>
                        <a:cs typeface="Times New Roman" panose="02020603050405020304" pitchFamily="18" charset="0"/>
                      </a:endParaRPr>
                    </a:p>
                  </a:txBody>
                  <a:tcPr anchor="ctr"/>
                </a:tc>
                <a:tc>
                  <a:txBody>
                    <a:bodyPr/>
                    <a:lstStyle/>
                    <a:p>
                      <a:r>
                        <a:rPr lang="en-IN" sz="1600" b="1">
                          <a:latin typeface="Times New Roman" panose="02020603050405020304" pitchFamily="18" charset="0"/>
                          <a:cs typeface="Times New Roman" panose="02020603050405020304" pitchFamily="18" charset="0"/>
                        </a:rPr>
                        <a:t>Author(s)</a:t>
                      </a:r>
                      <a:endParaRPr lang="en-IN" sz="1600">
                        <a:latin typeface="Times New Roman" panose="02020603050405020304" pitchFamily="18" charset="0"/>
                        <a:cs typeface="Times New Roman" panose="02020603050405020304" pitchFamily="18" charset="0"/>
                      </a:endParaRPr>
                    </a:p>
                  </a:txBody>
                  <a:tcPr anchor="ctr"/>
                </a:tc>
                <a:tc>
                  <a:txBody>
                    <a:bodyPr/>
                    <a:lstStyle/>
                    <a:p>
                      <a:r>
                        <a:rPr lang="en-IN" sz="1600" b="1">
                          <a:latin typeface="Times New Roman" panose="02020603050405020304" pitchFamily="18" charset="0"/>
                          <a:cs typeface="Times New Roman" panose="02020603050405020304" pitchFamily="18" charset="0"/>
                        </a:rPr>
                        <a:t>Title</a:t>
                      </a:r>
                      <a:endParaRPr lang="en-IN" sz="1600">
                        <a:latin typeface="Times New Roman" panose="02020603050405020304" pitchFamily="18" charset="0"/>
                        <a:cs typeface="Times New Roman" panose="02020603050405020304" pitchFamily="18" charset="0"/>
                      </a:endParaRPr>
                    </a:p>
                  </a:txBody>
                  <a:tcPr anchor="ctr"/>
                </a:tc>
                <a:tc>
                  <a:txBody>
                    <a:bodyPr/>
                    <a:lstStyle/>
                    <a:p>
                      <a:r>
                        <a:rPr lang="en-IN" sz="1600" b="1">
                          <a:latin typeface="Times New Roman" panose="02020603050405020304" pitchFamily="18" charset="0"/>
                          <a:cs typeface="Times New Roman" panose="02020603050405020304" pitchFamily="18" charset="0"/>
                        </a:rPr>
                        <a:t>Outcome</a:t>
                      </a:r>
                      <a:endParaRPr lang="en-IN"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99300635"/>
                  </a:ext>
                </a:extLst>
              </a:tr>
              <a:tr h="1429838">
                <a:tc>
                  <a:txBody>
                    <a:bodyPr/>
                    <a:lstStyle/>
                    <a:p>
                      <a:r>
                        <a:rPr lang="en-IN" sz="1600" b="1">
                          <a:latin typeface="Times New Roman" panose="02020603050405020304" pitchFamily="18" charset="0"/>
                          <a:cs typeface="Times New Roman" panose="02020603050405020304" pitchFamily="18" charset="0"/>
                        </a:rPr>
                        <a:t>2023</a:t>
                      </a:r>
                      <a:endParaRPr lang="en-IN" sz="1600">
                        <a:latin typeface="Times New Roman" panose="02020603050405020304" pitchFamily="18" charset="0"/>
                        <a:cs typeface="Times New Roman" panose="02020603050405020304" pitchFamily="18" charset="0"/>
                      </a:endParaRPr>
                    </a:p>
                  </a:txBody>
                  <a:tcPr anchor="ctr"/>
                </a:tc>
                <a:tc>
                  <a:txBody>
                    <a:bodyPr/>
                    <a:lstStyle/>
                    <a:p>
                      <a:r>
                        <a:rPr lang="en-IN" sz="1600">
                          <a:latin typeface="Times New Roman" panose="02020603050405020304" pitchFamily="18" charset="0"/>
                          <a:cs typeface="Times New Roman" panose="02020603050405020304" pitchFamily="18" charset="0"/>
                        </a:rPr>
                        <a:t>Safarov, F., Akhmedov, F., Abdusalomov, A. B., Nasimov, R., &amp; Cho, Y. I.</a:t>
                      </a:r>
                    </a:p>
                  </a:txBody>
                  <a:tcPr anchor="ctr"/>
                </a:tc>
                <a:tc>
                  <a:txBody>
                    <a:bodyPr/>
                    <a:lstStyle/>
                    <a:p>
                      <a:r>
                        <a:rPr lang="en-US" sz="1600" i="1">
                          <a:latin typeface="Times New Roman" panose="02020603050405020304" pitchFamily="18" charset="0"/>
                          <a:cs typeface="Times New Roman" panose="02020603050405020304" pitchFamily="18" charset="0"/>
                        </a:rPr>
                        <a:t>Real-Time Deep Learning-Based Drowsiness Detection</a:t>
                      </a:r>
                      <a:endParaRPr lang="en-US" sz="1600">
                        <a:latin typeface="Times New Roman" panose="02020603050405020304" pitchFamily="18" charset="0"/>
                        <a:cs typeface="Times New Roman" panose="02020603050405020304" pitchFamily="18" charset="0"/>
                      </a:endParaRPr>
                    </a:p>
                  </a:txBody>
                  <a:tcPr anchor="ctr"/>
                </a:tc>
                <a:tc>
                  <a:txBody>
                    <a:bodyPr/>
                    <a:lstStyle/>
                    <a:p>
                      <a:r>
                        <a:rPr lang="en-US" sz="1600">
                          <a:latin typeface="Times New Roman" panose="02020603050405020304" pitchFamily="18" charset="0"/>
                          <a:cs typeface="Times New Roman" panose="02020603050405020304" pitchFamily="18" charset="0"/>
                        </a:rPr>
                        <a:t>Developed a deep-learning system using eye-blink analysis to improve real-time drowsiness detection accuracy and road safety.</a:t>
                      </a:r>
                    </a:p>
                  </a:txBody>
                  <a:tcPr anchor="ctr"/>
                </a:tc>
                <a:extLst>
                  <a:ext uri="{0D108BD9-81ED-4DB2-BD59-A6C34878D82A}">
                    <a16:rowId xmlns:a16="http://schemas.microsoft.com/office/drawing/2014/main" val="2187870571"/>
                  </a:ext>
                </a:extLst>
              </a:tr>
              <a:tr h="1207419">
                <a:tc>
                  <a:txBody>
                    <a:bodyPr/>
                    <a:lstStyle/>
                    <a:p>
                      <a:r>
                        <a:rPr lang="en-IN" sz="1600" b="1">
                          <a:latin typeface="Times New Roman" panose="02020603050405020304" pitchFamily="18" charset="0"/>
                          <a:cs typeface="Times New Roman" panose="02020603050405020304" pitchFamily="18" charset="0"/>
                        </a:rPr>
                        <a:t>2024</a:t>
                      </a:r>
                      <a:endParaRPr lang="en-IN" sz="1600">
                        <a:latin typeface="Times New Roman" panose="02020603050405020304" pitchFamily="18" charset="0"/>
                        <a:cs typeface="Times New Roman" panose="02020603050405020304" pitchFamily="18" charset="0"/>
                      </a:endParaRPr>
                    </a:p>
                  </a:txBody>
                  <a:tcPr anchor="ctr"/>
                </a:tc>
                <a:tc>
                  <a:txBody>
                    <a:bodyPr/>
                    <a:lstStyle/>
                    <a:p>
                      <a:r>
                        <a:rPr lang="en-IN" sz="1600">
                          <a:latin typeface="Times New Roman" panose="02020603050405020304" pitchFamily="18" charset="0"/>
                          <a:cs typeface="Times New Roman" panose="02020603050405020304" pitchFamily="18" charset="0"/>
                        </a:rPr>
                        <a:t>Shen, Q., et al.</a:t>
                      </a:r>
                    </a:p>
                  </a:txBody>
                  <a:tcPr anchor="ctr"/>
                </a:tc>
                <a:tc>
                  <a:txBody>
                    <a:bodyPr/>
                    <a:lstStyle/>
                    <a:p>
                      <a:r>
                        <a:rPr lang="en-US" sz="1600" i="1">
                          <a:latin typeface="Times New Roman" panose="02020603050405020304" pitchFamily="18" charset="0"/>
                          <a:cs typeface="Times New Roman" panose="02020603050405020304" pitchFamily="18" charset="0"/>
                        </a:rPr>
                        <a:t>Distracted Driving Behavior Detection Algorithm Based on StarDL-YOLO</a:t>
                      </a:r>
                      <a:endParaRPr lang="en-US" sz="1600">
                        <a:latin typeface="Times New Roman" panose="02020603050405020304" pitchFamily="18" charset="0"/>
                        <a:cs typeface="Times New Roman" panose="02020603050405020304" pitchFamily="18" charset="0"/>
                      </a:endParaRPr>
                    </a:p>
                  </a:txBody>
                  <a:tcPr anchor="ctr"/>
                </a:tc>
                <a:tc>
                  <a:txBody>
                    <a:bodyPr/>
                    <a:lstStyle/>
                    <a:p>
                      <a:r>
                        <a:rPr lang="en-US" sz="1600">
                          <a:latin typeface="Times New Roman" panose="02020603050405020304" pitchFamily="18" charset="0"/>
                          <a:cs typeface="Times New Roman" panose="02020603050405020304" pitchFamily="18" charset="0"/>
                        </a:rPr>
                        <a:t>Proposed an improved YOLO-based algorithm that enhances detection of distracted driving behaviors with higher precision.</a:t>
                      </a:r>
                    </a:p>
                  </a:txBody>
                  <a:tcPr anchor="ctr"/>
                </a:tc>
                <a:extLst>
                  <a:ext uri="{0D108BD9-81ED-4DB2-BD59-A6C34878D82A}">
                    <a16:rowId xmlns:a16="http://schemas.microsoft.com/office/drawing/2014/main" val="589295387"/>
                  </a:ext>
                </a:extLst>
              </a:tr>
              <a:tr h="1207419">
                <a:tc>
                  <a:txBody>
                    <a:bodyPr/>
                    <a:lstStyle/>
                    <a:p>
                      <a:r>
                        <a:rPr lang="en-IN" sz="1600" b="1">
                          <a:latin typeface="Times New Roman" panose="02020603050405020304" pitchFamily="18" charset="0"/>
                          <a:cs typeface="Times New Roman" panose="02020603050405020304" pitchFamily="18" charset="0"/>
                        </a:rPr>
                        <a:t>2023</a:t>
                      </a:r>
                      <a:endParaRPr lang="en-IN" sz="1600">
                        <a:latin typeface="Times New Roman" panose="02020603050405020304" pitchFamily="18" charset="0"/>
                        <a:cs typeface="Times New Roman" panose="02020603050405020304" pitchFamily="18" charset="0"/>
                      </a:endParaRPr>
                    </a:p>
                  </a:txBody>
                  <a:tcPr anchor="ctr"/>
                </a:tc>
                <a:tc>
                  <a:txBody>
                    <a:bodyPr/>
                    <a:lstStyle/>
                    <a:p>
                      <a:r>
                        <a:rPr lang="en-IN" sz="1600">
                          <a:latin typeface="Times New Roman" panose="02020603050405020304" pitchFamily="18" charset="0"/>
                          <a:cs typeface="Times New Roman" panose="02020603050405020304" pitchFamily="18" charset="0"/>
                        </a:rPr>
                        <a:t>A. C. Phan, …</a:t>
                      </a:r>
                    </a:p>
                  </a:txBody>
                  <a:tcPr anchor="ctr"/>
                </a:tc>
                <a:tc>
                  <a:txBody>
                    <a:bodyPr/>
                    <a:lstStyle/>
                    <a:p>
                      <a:r>
                        <a:rPr lang="en-US" sz="1600" i="1">
                          <a:latin typeface="Times New Roman" panose="02020603050405020304" pitchFamily="18" charset="0"/>
                          <a:cs typeface="Times New Roman" panose="02020603050405020304" pitchFamily="18" charset="0"/>
                        </a:rPr>
                        <a:t>Driver drowsiness detection and smart alerting using deep learning and IoT</a:t>
                      </a:r>
                      <a:endParaRPr lang="en-US" sz="1600">
                        <a:latin typeface="Times New Roman" panose="02020603050405020304" pitchFamily="18" charset="0"/>
                        <a:cs typeface="Times New Roman" panose="02020603050405020304" pitchFamily="18" charset="0"/>
                      </a:endParaRPr>
                    </a:p>
                  </a:txBody>
                  <a:tcPr anchor="ctr"/>
                </a:tc>
                <a:tc>
                  <a:txBody>
                    <a:bodyPr/>
                    <a:lstStyle/>
                    <a:p>
                      <a:r>
                        <a:rPr lang="en-US" sz="1600">
                          <a:latin typeface="Times New Roman" panose="02020603050405020304" pitchFamily="18" charset="0"/>
                          <a:cs typeface="Times New Roman" panose="02020603050405020304" pitchFamily="18" charset="0"/>
                        </a:rPr>
                        <a:t>Introduced a deep-learning and IoT-based alert system to identify drowsiness and send automated warnings for increased driver safety.</a:t>
                      </a:r>
                    </a:p>
                  </a:txBody>
                  <a:tcPr anchor="ctr"/>
                </a:tc>
                <a:extLst>
                  <a:ext uri="{0D108BD9-81ED-4DB2-BD59-A6C34878D82A}">
                    <a16:rowId xmlns:a16="http://schemas.microsoft.com/office/drawing/2014/main" val="1947548602"/>
                  </a:ext>
                </a:extLst>
              </a:tr>
              <a:tr h="1207419">
                <a:tc>
                  <a:txBody>
                    <a:bodyPr/>
                    <a:lstStyle/>
                    <a:p>
                      <a:r>
                        <a:rPr lang="en-IN" sz="1600" b="1">
                          <a:latin typeface="Times New Roman" panose="02020603050405020304" pitchFamily="18" charset="0"/>
                          <a:cs typeface="Times New Roman" panose="02020603050405020304" pitchFamily="18" charset="0"/>
                        </a:rPr>
                        <a:t>2024</a:t>
                      </a:r>
                      <a:endParaRPr lang="en-IN" sz="1600">
                        <a:latin typeface="Times New Roman" panose="02020603050405020304" pitchFamily="18" charset="0"/>
                        <a:cs typeface="Times New Roman" panose="02020603050405020304" pitchFamily="18" charset="0"/>
                      </a:endParaRPr>
                    </a:p>
                  </a:txBody>
                  <a:tcPr anchor="ctr"/>
                </a:tc>
                <a:tc>
                  <a:txBody>
                    <a:bodyPr/>
                    <a:lstStyle/>
                    <a:p>
                      <a:r>
                        <a:rPr lang="en-IN" sz="1600">
                          <a:latin typeface="Times New Roman" panose="02020603050405020304" pitchFamily="18" charset="0"/>
                          <a:cs typeface="Times New Roman" panose="02020603050405020304" pitchFamily="18" charset="0"/>
                        </a:rPr>
                        <a:t>Gao, H., …</a:t>
                      </a:r>
                    </a:p>
                  </a:txBody>
                  <a:tcPr anchor="ctr"/>
                </a:tc>
                <a:tc>
                  <a:txBody>
                    <a:bodyPr/>
                    <a:lstStyle/>
                    <a:p>
                      <a:r>
                        <a:rPr lang="en-US" sz="1600" i="1">
                          <a:latin typeface="Times New Roman" panose="02020603050405020304" pitchFamily="18" charset="0"/>
                          <a:cs typeface="Times New Roman" panose="02020603050405020304" pitchFamily="18" charset="0"/>
                        </a:rPr>
                        <a:t>Improving real-time driver distraction detection via constrained attention mechanism</a:t>
                      </a:r>
                      <a:endParaRPr lang="en-US" sz="1600">
                        <a:latin typeface="Times New Roman" panose="02020603050405020304" pitchFamily="18" charset="0"/>
                        <a:cs typeface="Times New Roman" panose="02020603050405020304" pitchFamily="18" charset="0"/>
                      </a:endParaRPr>
                    </a:p>
                  </a:txBody>
                  <a:tcPr anchor="ctr"/>
                </a:tc>
                <a:tc>
                  <a:txBody>
                    <a:bodyPr/>
                    <a:lstStyle/>
                    <a:p>
                      <a:r>
                        <a:rPr lang="en-US" sz="1600" dirty="0">
                          <a:latin typeface="Times New Roman" panose="02020603050405020304" pitchFamily="18" charset="0"/>
                          <a:cs typeface="Times New Roman" panose="02020603050405020304" pitchFamily="18" charset="0"/>
                        </a:rPr>
                        <a:t>Presented an attention-based model that enhances the accuracy and speed of real-time driver distraction detection.</a:t>
                      </a:r>
                    </a:p>
                  </a:txBody>
                  <a:tcPr anchor="ctr"/>
                </a:tc>
                <a:extLst>
                  <a:ext uri="{0D108BD9-81ED-4DB2-BD59-A6C34878D82A}">
                    <a16:rowId xmlns:a16="http://schemas.microsoft.com/office/drawing/2014/main" val="15395855"/>
                  </a:ext>
                </a:extLst>
              </a:tr>
            </a:tbl>
          </a:graphicData>
        </a:graphic>
      </p:graphicFrame>
    </p:spTree>
    <p:extLst>
      <p:ext uri="{BB962C8B-B14F-4D97-AF65-F5344CB8AC3E}">
        <p14:creationId xmlns:p14="http://schemas.microsoft.com/office/powerpoint/2010/main" val="2009617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233351" y="441237"/>
            <a:ext cx="9725297" cy="793567"/>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IMPLEMENTATION</a:t>
            </a:r>
            <a:br>
              <a:rPr lang="en-US" sz="3000" u="sng" dirty="0">
                <a:latin typeface="Times New Roman" panose="02020603050405020304" pitchFamily="18" charset="0"/>
                <a:cs typeface="Times New Roman" panose="02020603050405020304" pitchFamily="18" charset="0"/>
              </a:rPr>
            </a:b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4" name="TextBox 3"/>
          <p:cNvSpPr txBox="1"/>
          <p:nvPr/>
        </p:nvSpPr>
        <p:spPr>
          <a:xfrm>
            <a:off x="842041" y="653354"/>
            <a:ext cx="256032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Algorithm Definitions:</a:t>
            </a:r>
            <a:endParaRPr lang="en-IN" dirty="0">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D0A03ABD-2CDF-4634-8266-28CE60CC1CCD}"/>
              </a:ext>
            </a:extLst>
          </p:cNvPr>
          <p:cNvSpPr/>
          <p:nvPr/>
        </p:nvSpPr>
        <p:spPr>
          <a:xfrm>
            <a:off x="842041" y="1733613"/>
            <a:ext cx="12555071" cy="458074"/>
          </a:xfrm>
          <a:prstGeom prst="rect">
            <a:avLst/>
          </a:prstGeom>
        </p:spPr>
        <p:txBody>
          <a:bodyPr wrap="square">
            <a:sp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1E9ACF1A-BCD9-4282-BC85-4C31C0DF1C7C}"/>
              </a:ext>
            </a:extLst>
          </p:cNvPr>
          <p:cNvSpPr/>
          <p:nvPr/>
        </p:nvSpPr>
        <p:spPr>
          <a:xfrm>
            <a:off x="842040" y="1100166"/>
            <a:ext cx="10713465" cy="4197559"/>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YOLOv10 is the latest version of the popular "You Only Look Once" real-time object detection models, developed by researchers at Tsinghua University. Its primary goal is to achieve an optimal balance between high accuracy and computational efficiency, surpassing previous models like YOLOv8 and YOLOv9. YOLOv10 introduces new architectural designs, specifically a "holistic efficiency-accuracy driven" approach, to streamline the network structure and improve performance without adding excessive computational cost.</a:t>
            </a:r>
          </a:p>
          <a:p>
            <a:pPr algn="just">
              <a:lnSpc>
                <a:spcPct val="150000"/>
              </a:lnSpc>
            </a:pPr>
            <a:r>
              <a:rPr lang="en-US" dirty="0">
                <a:latin typeface="Times New Roman" panose="02020603050405020304" pitchFamily="18" charset="0"/>
                <a:cs typeface="Times New Roman" panose="02020603050405020304" pitchFamily="18" charset="0"/>
              </a:rPr>
              <a:t>Key innovations include the use of efficient "consistent dual assignments" for training and refined architectural components. The result is a model that runs faster and more efficiently while maintaining or improving detection accuracy. The code is officially available on GitHub and integrated into the popular </a:t>
            </a:r>
            <a:r>
              <a:rPr lang="en-US" dirty="0" err="1">
                <a:latin typeface="Times New Roman" panose="02020603050405020304" pitchFamily="18" charset="0"/>
                <a:cs typeface="Times New Roman" panose="02020603050405020304" pitchFamily="18" charset="0"/>
              </a:rPr>
              <a:t>Ultralytics</a:t>
            </a:r>
            <a:r>
              <a:rPr lang="en-US" dirty="0">
                <a:latin typeface="Times New Roman" panose="02020603050405020304" pitchFamily="18" charset="0"/>
                <a:cs typeface="Times New Roman" panose="02020603050405020304" pitchFamily="18" charset="0"/>
              </a:rPr>
              <a:t> Python package, making it easy to implement. In simple terms, YOLOv10 represents the current state-of-the-art for fast, accurate object detection.</a:t>
            </a:r>
          </a:p>
        </p:txBody>
      </p:sp>
    </p:spTree>
    <p:extLst>
      <p:ext uri="{BB962C8B-B14F-4D97-AF65-F5344CB8AC3E}">
        <p14:creationId xmlns:p14="http://schemas.microsoft.com/office/powerpoint/2010/main" val="236948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22166" y="542543"/>
            <a:ext cx="9725297" cy="793567"/>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IMPLEMENTATION</a:t>
            </a:r>
            <a:br>
              <a:rPr lang="en-US" sz="3000" u="sng" dirty="0">
                <a:latin typeface="Times New Roman" panose="02020603050405020304" pitchFamily="18" charset="0"/>
                <a:cs typeface="Times New Roman" panose="02020603050405020304" pitchFamily="18" charset="0"/>
              </a:rPr>
            </a:b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p:cNvSpPr/>
          <p:nvPr/>
        </p:nvSpPr>
        <p:spPr>
          <a:xfrm>
            <a:off x="635726" y="939326"/>
            <a:ext cx="10972799" cy="458074"/>
          </a:xfrm>
          <a:prstGeom prst="rect">
            <a:avLst/>
          </a:prstGeom>
        </p:spPr>
        <p:txBody>
          <a:bodyPr wrap="square">
            <a:spAutoFit/>
          </a:bodyPr>
          <a:lstStyle/>
          <a:p>
            <a:pPr lvl="0"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A9577868-2B82-4E1F-8A38-32969E7D695C}"/>
              </a:ext>
            </a:extLst>
          </p:cNvPr>
          <p:cNvSpPr/>
          <p:nvPr/>
        </p:nvSpPr>
        <p:spPr>
          <a:xfrm>
            <a:off x="900954" y="1025221"/>
            <a:ext cx="10972799" cy="5444054"/>
          </a:xfrm>
          <a:prstGeom prst="rect">
            <a:avLst/>
          </a:prstGeom>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Step 1: Dataset Collection &amp; Preparation</a:t>
            </a:r>
          </a:p>
          <a:p>
            <a:pPr algn="just">
              <a:lnSpc>
                <a:spcPct val="150000"/>
              </a:lnSpc>
            </a:pPr>
            <a:r>
              <a:rPr lang="en-IN" dirty="0">
                <a:latin typeface="Times New Roman" panose="02020603050405020304" pitchFamily="18" charset="0"/>
                <a:cs typeface="Times New Roman" panose="02020603050405020304" pitchFamily="18" charset="0"/>
              </a:rPr>
              <a:t>Gather </a:t>
            </a:r>
            <a:r>
              <a:rPr lang="en-IN" dirty="0" err="1">
                <a:latin typeface="Times New Roman" panose="02020603050405020304" pitchFamily="18" charset="0"/>
                <a:cs typeface="Times New Roman" panose="02020603050405020304" pitchFamily="18" charset="0"/>
              </a:rPr>
              <a:t>labeled</a:t>
            </a:r>
            <a:r>
              <a:rPr lang="en-IN" dirty="0">
                <a:latin typeface="Times New Roman" panose="02020603050405020304" pitchFamily="18" charset="0"/>
                <a:cs typeface="Times New Roman" panose="02020603050405020304" pitchFamily="18" charset="0"/>
              </a:rPr>
              <a:t> images of driver </a:t>
            </a:r>
            <a:r>
              <a:rPr lang="en-IN" dirty="0" err="1">
                <a:latin typeface="Times New Roman" panose="02020603050405020304" pitchFamily="18" charset="0"/>
                <a:cs typeface="Times New Roman" panose="02020603050405020304" pitchFamily="18" charset="0"/>
              </a:rPr>
              <a:t>behaviors</a:t>
            </a:r>
            <a:r>
              <a:rPr lang="en-IN" dirty="0">
                <a:latin typeface="Times New Roman" panose="02020603050405020304" pitchFamily="18" charset="0"/>
                <a:cs typeface="Times New Roman" panose="02020603050405020304" pitchFamily="18" charset="0"/>
              </a:rPr>
              <a:t>.</a:t>
            </a:r>
          </a:p>
          <a:p>
            <a:pPr algn="just">
              <a:lnSpc>
                <a:spcPct val="150000"/>
              </a:lnSpc>
            </a:pPr>
            <a:r>
              <a:rPr lang="en-IN" dirty="0" err="1">
                <a:latin typeface="Times New Roman" panose="02020603050405020304" pitchFamily="18" charset="0"/>
                <a:cs typeface="Times New Roman" panose="02020603050405020304" pitchFamily="18" charset="0"/>
              </a:rPr>
              <a:t>Preprocess</a:t>
            </a:r>
            <a:r>
              <a:rPr lang="en-IN" dirty="0">
                <a:latin typeface="Times New Roman" panose="02020603050405020304" pitchFamily="18" charset="0"/>
                <a:cs typeface="Times New Roman" panose="02020603050405020304" pitchFamily="18" charset="0"/>
              </a:rPr>
              <a:t> and split into training/validation sets.</a:t>
            </a:r>
          </a:p>
          <a:p>
            <a:pPr algn="just">
              <a:lnSpc>
                <a:spcPct val="150000"/>
              </a:lnSpc>
            </a:pPr>
            <a:r>
              <a:rPr lang="en-IN" b="1" dirty="0">
                <a:latin typeface="Times New Roman" panose="02020603050405020304" pitchFamily="18" charset="0"/>
                <a:cs typeface="Times New Roman" panose="02020603050405020304" pitchFamily="18" charset="0"/>
              </a:rPr>
              <a:t>Step 2: Train YOLOv10 Model</a:t>
            </a:r>
          </a:p>
          <a:p>
            <a:pPr algn="just">
              <a:lnSpc>
                <a:spcPct val="150000"/>
              </a:lnSpc>
            </a:pPr>
            <a:r>
              <a:rPr lang="en-IN" dirty="0">
                <a:latin typeface="Times New Roman" panose="02020603050405020304" pitchFamily="18" charset="0"/>
                <a:cs typeface="Times New Roman" panose="02020603050405020304" pitchFamily="18" charset="0"/>
              </a:rPr>
              <a:t>Configure YOLOv10 with custom dataset.</a:t>
            </a:r>
          </a:p>
          <a:p>
            <a:pPr algn="just">
              <a:lnSpc>
                <a:spcPct val="150000"/>
              </a:lnSpc>
            </a:pPr>
            <a:r>
              <a:rPr lang="en-IN" dirty="0">
                <a:latin typeface="Times New Roman" panose="02020603050405020304" pitchFamily="18" charset="0"/>
                <a:cs typeface="Times New Roman" panose="02020603050405020304" pitchFamily="18" charset="0"/>
              </a:rPr>
              <a:t>Train, validate, and export the best-performing weights.</a:t>
            </a:r>
          </a:p>
          <a:p>
            <a:pPr algn="just">
              <a:lnSpc>
                <a:spcPct val="150000"/>
              </a:lnSpc>
            </a:pPr>
            <a:r>
              <a:rPr lang="en-IN" b="1" dirty="0">
                <a:latin typeface="Times New Roman" panose="02020603050405020304" pitchFamily="18" charset="0"/>
                <a:cs typeface="Times New Roman" panose="02020603050405020304" pitchFamily="18" charset="0"/>
              </a:rPr>
              <a:t>Step 3: Build Flask Backend</a:t>
            </a:r>
          </a:p>
          <a:p>
            <a:pPr algn="just">
              <a:lnSpc>
                <a:spcPct val="150000"/>
              </a:lnSpc>
            </a:pPr>
            <a:r>
              <a:rPr lang="en-IN" dirty="0">
                <a:latin typeface="Times New Roman" panose="02020603050405020304" pitchFamily="18" charset="0"/>
                <a:cs typeface="Times New Roman" panose="02020603050405020304" pitchFamily="18" charset="0"/>
              </a:rPr>
              <a:t>Integrate trained YOLOv10 model into Flask.</a:t>
            </a:r>
          </a:p>
          <a:p>
            <a:pPr algn="just">
              <a:lnSpc>
                <a:spcPct val="150000"/>
              </a:lnSpc>
            </a:pPr>
            <a:r>
              <a:rPr lang="en-IN" dirty="0">
                <a:latin typeface="Times New Roman" panose="02020603050405020304" pitchFamily="18" charset="0"/>
                <a:cs typeface="Times New Roman" panose="02020603050405020304" pitchFamily="18" charset="0"/>
              </a:rPr>
              <a:t>Create routes for login, registration, and detection.</a:t>
            </a:r>
            <a:endParaRPr lang="en-US"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Step 4: Create Frontend Interface</a:t>
            </a:r>
          </a:p>
          <a:p>
            <a:pPr algn="just">
              <a:lnSpc>
                <a:spcPct val="150000"/>
              </a:lnSpc>
            </a:pPr>
            <a:r>
              <a:rPr lang="en-US" dirty="0">
                <a:latin typeface="Times New Roman" panose="02020603050405020304" pitchFamily="18" charset="0"/>
                <a:cs typeface="Times New Roman" panose="02020603050405020304" pitchFamily="18" charset="0"/>
              </a:rPr>
              <a:t>Design Home, Login, Register, Detection pages using HTML, CSS, JS.</a:t>
            </a:r>
          </a:p>
          <a:p>
            <a:pPr algn="just">
              <a:lnSpc>
                <a:spcPct val="150000"/>
              </a:lnSpc>
            </a:pPr>
            <a:r>
              <a:rPr lang="en-US" dirty="0">
                <a:latin typeface="Times New Roman" panose="02020603050405020304" pitchFamily="18" charset="0"/>
                <a:cs typeface="Times New Roman" panose="02020603050405020304" pitchFamily="18" charset="0"/>
              </a:rPr>
              <a:t>Implement live video streaming from the camera.</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3054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0B27FA-3B41-4C53-B0F4-8AB9EBCB737D}"/>
              </a:ext>
            </a:extLst>
          </p:cNvPr>
          <p:cNvSpPr/>
          <p:nvPr/>
        </p:nvSpPr>
        <p:spPr>
          <a:xfrm>
            <a:off x="972669" y="908478"/>
            <a:ext cx="10708342" cy="4197559"/>
          </a:xfrm>
          <a:prstGeom prst="rect">
            <a:avLst/>
          </a:prstGeom>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Step 5: Implement Accurate Detection</a:t>
            </a:r>
          </a:p>
          <a:p>
            <a:pPr algn="just">
              <a:lnSpc>
                <a:spcPct val="150000"/>
              </a:lnSpc>
            </a:pPr>
            <a:r>
              <a:rPr lang="en-IN" dirty="0">
                <a:latin typeface="Times New Roman" panose="02020603050405020304" pitchFamily="18" charset="0"/>
                <a:cs typeface="Times New Roman" panose="02020603050405020304" pitchFamily="18" charset="0"/>
              </a:rPr>
              <a:t>Capture frames from the webcam.</a:t>
            </a:r>
          </a:p>
          <a:p>
            <a:pPr algn="just">
              <a:lnSpc>
                <a:spcPct val="150000"/>
              </a:lnSpc>
            </a:pPr>
            <a:r>
              <a:rPr lang="en-IN" dirty="0">
                <a:latin typeface="Times New Roman" panose="02020603050405020304" pitchFamily="18" charset="0"/>
                <a:cs typeface="Times New Roman" panose="02020603050405020304" pitchFamily="18" charset="0"/>
              </a:rPr>
              <a:t>Run inference using YOLOv10.</a:t>
            </a:r>
          </a:p>
          <a:p>
            <a:pPr algn="just">
              <a:lnSpc>
                <a:spcPct val="150000"/>
              </a:lnSpc>
            </a:pPr>
            <a:r>
              <a:rPr lang="en-IN" dirty="0">
                <a:latin typeface="Times New Roman" panose="02020603050405020304" pitchFamily="18" charset="0"/>
                <a:cs typeface="Times New Roman" panose="02020603050405020304" pitchFamily="18" charset="0"/>
              </a:rPr>
              <a:t>Display detected </a:t>
            </a:r>
            <a:r>
              <a:rPr lang="en-IN" dirty="0" err="1">
                <a:latin typeface="Times New Roman" panose="02020603050405020304" pitchFamily="18" charset="0"/>
                <a:cs typeface="Times New Roman" panose="02020603050405020304" pitchFamily="18" charset="0"/>
              </a:rPr>
              <a:t>behaviors</a:t>
            </a:r>
            <a:r>
              <a:rPr lang="en-IN" dirty="0">
                <a:latin typeface="Times New Roman" panose="02020603050405020304" pitchFamily="18" charset="0"/>
                <a:cs typeface="Times New Roman" panose="02020603050405020304" pitchFamily="18" charset="0"/>
              </a:rPr>
              <a:t> in the browser.</a:t>
            </a:r>
          </a:p>
          <a:p>
            <a:pPr algn="just">
              <a:lnSpc>
                <a:spcPct val="150000"/>
              </a:lnSpc>
            </a:pPr>
            <a:r>
              <a:rPr lang="en-IN" b="1" dirty="0">
                <a:latin typeface="Times New Roman" panose="02020603050405020304" pitchFamily="18" charset="0"/>
                <a:cs typeface="Times New Roman" panose="02020603050405020304" pitchFamily="18" charset="0"/>
              </a:rPr>
              <a:t>Step 6: Email Alert System</a:t>
            </a:r>
          </a:p>
          <a:p>
            <a:pPr algn="just">
              <a:lnSpc>
                <a:spcPct val="150000"/>
              </a:lnSpc>
            </a:pPr>
            <a:r>
              <a:rPr lang="en-IN" dirty="0">
                <a:latin typeface="Times New Roman" panose="02020603050405020304" pitchFamily="18" charset="0"/>
                <a:cs typeface="Times New Roman" panose="02020603050405020304" pitchFamily="18" charset="0"/>
              </a:rPr>
              <a:t>Configure SMTP email service.</a:t>
            </a:r>
          </a:p>
          <a:p>
            <a:pPr algn="just">
              <a:lnSpc>
                <a:spcPct val="150000"/>
              </a:lnSpc>
            </a:pPr>
            <a:r>
              <a:rPr lang="en-IN" dirty="0">
                <a:latin typeface="Times New Roman" panose="02020603050405020304" pitchFamily="18" charset="0"/>
                <a:cs typeface="Times New Roman" panose="02020603050405020304" pitchFamily="18" charset="0"/>
              </a:rPr>
              <a:t>Trigger email notifications on unsafe actions (e.g., drowsy, distracted).</a:t>
            </a:r>
          </a:p>
          <a:p>
            <a:pPr algn="just">
              <a:lnSpc>
                <a:spcPct val="150000"/>
              </a:lnSpc>
            </a:pPr>
            <a:r>
              <a:rPr lang="en-IN" b="1" dirty="0">
                <a:latin typeface="Times New Roman" panose="02020603050405020304" pitchFamily="18" charset="0"/>
                <a:cs typeface="Times New Roman" panose="02020603050405020304" pitchFamily="18" charset="0"/>
              </a:rPr>
              <a:t>Step 7: User Authentication &amp; Session Management</a:t>
            </a:r>
          </a:p>
          <a:p>
            <a:pPr algn="just">
              <a:lnSpc>
                <a:spcPct val="150000"/>
              </a:lnSpc>
            </a:pPr>
            <a:r>
              <a:rPr lang="en-IN" dirty="0">
                <a:latin typeface="Times New Roman" panose="02020603050405020304" pitchFamily="18" charset="0"/>
                <a:cs typeface="Times New Roman" panose="02020603050405020304" pitchFamily="18" charset="0"/>
              </a:rPr>
              <a:t>Store user credentials.</a:t>
            </a:r>
          </a:p>
          <a:p>
            <a:pPr algn="just">
              <a:lnSpc>
                <a:spcPct val="150000"/>
              </a:lnSpc>
            </a:pPr>
            <a:r>
              <a:rPr lang="en-IN" dirty="0">
                <a:latin typeface="Times New Roman" panose="02020603050405020304" pitchFamily="18" charset="0"/>
                <a:cs typeface="Times New Roman" panose="02020603050405020304" pitchFamily="18" charset="0"/>
              </a:rPr>
              <a:t>Enable login, logout, and secure access.</a:t>
            </a:r>
          </a:p>
        </p:txBody>
      </p:sp>
    </p:spTree>
    <p:extLst>
      <p:ext uri="{BB962C8B-B14F-4D97-AF65-F5344CB8AC3E}">
        <p14:creationId xmlns:p14="http://schemas.microsoft.com/office/powerpoint/2010/main" val="37487061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802060" y="111158"/>
            <a:ext cx="2460930" cy="458074"/>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USECASE DIAGRAM</a:t>
            </a: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802060" y="883516"/>
            <a:ext cx="11102189" cy="128907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use case diagram is a visual representation of the functional requirements of a system, showing the interactions between users (actors) and the system through use cases. It helps to identify the system's functionality and the actors involved.</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020001B-2FB4-4CD9-B857-3CC4AE8D0D91}"/>
              </a:ext>
            </a:extLst>
          </p:cNvPr>
          <p:cNvPicPr/>
          <p:nvPr/>
        </p:nvPicPr>
        <p:blipFill>
          <a:blip r:embed="rId2"/>
          <a:stretch>
            <a:fillRect/>
          </a:stretch>
        </p:blipFill>
        <p:spPr>
          <a:xfrm>
            <a:off x="1766790" y="2768785"/>
            <a:ext cx="8901209" cy="28162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847909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1296373" y="1470409"/>
            <a:ext cx="2140330" cy="507831"/>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CLASS DIAGRAM</a:t>
            </a: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329812" y="2109705"/>
            <a:ext cx="4790828" cy="300082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class diagram is a static structure diagram that represents the system's classes, their attributes, methods, and the relationships between them. It provides a detailed view of the system's data structure and how different classes interact. Class diagrams are essential for object-oriented design and implementation.</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47195A9D-9E89-4966-84B6-71FF72E590AB}"/>
              </a:ext>
            </a:extLst>
          </p:cNvPr>
          <p:cNvPicPr/>
          <p:nvPr/>
        </p:nvPicPr>
        <p:blipFill>
          <a:blip r:embed="rId2"/>
          <a:stretch>
            <a:fillRect/>
          </a:stretch>
        </p:blipFill>
        <p:spPr>
          <a:xfrm>
            <a:off x="6487646" y="486410"/>
            <a:ext cx="3752850" cy="58851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678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1459601" y="1663059"/>
            <a:ext cx="2666114" cy="507831"/>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SEQUENCE DIAGRAM</a:t>
            </a: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01747" y="2109705"/>
            <a:ext cx="11215124" cy="128907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sequence diagram is a behavioral diagram that illustrates how objects interact in a particular sequence of events over time. It shows the order of messages exchanged between objects and their interactions to fulfill a specific scenario or process. This diagram helps in understanding the dynamic behavior of the system.</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94607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724495" y="-72175"/>
            <a:ext cx="2666114" cy="507831"/>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SEQUENCE DIAGRAM</a:t>
            </a: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9198F88-9231-4F5F-A37B-C21AEE1D3F63}"/>
              </a:ext>
            </a:extLst>
          </p:cNvPr>
          <p:cNvPicPr/>
          <p:nvPr/>
        </p:nvPicPr>
        <p:blipFill>
          <a:blip r:embed="rId2"/>
          <a:stretch>
            <a:fillRect/>
          </a:stretch>
        </p:blipFill>
        <p:spPr>
          <a:xfrm>
            <a:off x="1669868" y="1340432"/>
            <a:ext cx="8863143" cy="50065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255528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879006" y="1277704"/>
            <a:ext cx="3046668" cy="507831"/>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DEPLOYMENT DIAGRAM</a:t>
            </a: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01746" y="1940647"/>
            <a:ext cx="5115283" cy="341632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Deployment diagram, also known as a performance diagram, represents the physical performance of software components on hardware nodes. It shows how artifacts, such as executables and libraries, are distributed across hardware components and their relationships. This diagram helps in understanding the system's physical architecture and performance configuration.</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9B66373-B53A-4AE1-8FCD-B6C63B7AE66D}"/>
              </a:ext>
            </a:extLst>
          </p:cNvPr>
          <p:cNvPicPr/>
          <p:nvPr/>
        </p:nvPicPr>
        <p:blipFill>
          <a:blip r:embed="rId2"/>
          <a:stretch>
            <a:fillRect/>
          </a:stretch>
        </p:blipFill>
        <p:spPr>
          <a:xfrm>
            <a:off x="6574973" y="1372083"/>
            <a:ext cx="4351095" cy="455344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967961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1596413" y="1317264"/>
            <a:ext cx="2542106" cy="507831"/>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ACTIVITY DIAGRAM</a:t>
            </a: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614286" y="1956560"/>
            <a:ext cx="5481713" cy="2951064"/>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 activity diagram is a behavioral diagram that illustrates the flow of control or data through a series of activities or actions in a system. It represents the dynamic aspects of a process, including decision points, parallel activities, and the sequence of operations. Activity diagrams are useful for modeling workflows and business processes.</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0A6A2B5A-F06C-4A06-9FAA-246DC75727D6}"/>
              </a:ext>
            </a:extLst>
          </p:cNvPr>
          <p:cNvPicPr/>
          <p:nvPr/>
        </p:nvPicPr>
        <p:blipFill>
          <a:blip r:embed="rId2"/>
          <a:stretch>
            <a:fillRect/>
          </a:stretch>
        </p:blipFill>
        <p:spPr>
          <a:xfrm>
            <a:off x="7611036" y="181499"/>
            <a:ext cx="2409512" cy="64950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548132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51980" y="1343411"/>
            <a:ext cx="2918428" cy="507831"/>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COMPONENT DIAGRAM</a:t>
            </a: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01747" y="1916975"/>
            <a:ext cx="4618894" cy="378206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component diagram is a structural diagram that depicts the physical components of a system and their dependencies. It shows how components, such as software packages or modules, are organized and interact with each other to form a complete system. This diagram helps in understanding the high-level structure and organization of the system's components.</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D2A7E13F-F37B-47C0-BEB5-7B6C9DB9D89C}"/>
              </a:ext>
            </a:extLst>
          </p:cNvPr>
          <p:cNvPicPr/>
          <p:nvPr/>
        </p:nvPicPr>
        <p:blipFill>
          <a:blip r:embed="rId2"/>
          <a:stretch>
            <a:fillRect/>
          </a:stretch>
        </p:blipFill>
        <p:spPr>
          <a:xfrm>
            <a:off x="5722434" y="2308823"/>
            <a:ext cx="5731510" cy="268859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969607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907598" y="311774"/>
            <a:ext cx="1717137" cy="507831"/>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ER DIAGRAM</a:t>
            </a: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789128" y="819605"/>
            <a:ext cx="4592769" cy="383181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 Entity-Relationship (ER) diagram is a data model diagram that visually represents the entities, attributes, and relationships within a database. It shows how data entities interact with one another and the nature of their relationships, providing a blueprint for database design. ER diagrams are crucial for designing and understanding database schemas.</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7508424-592C-4F60-9333-4F9CB7B28BB6}"/>
              </a:ext>
            </a:extLst>
          </p:cNvPr>
          <p:cNvPicPr/>
          <p:nvPr/>
        </p:nvPicPr>
        <p:blipFill>
          <a:blip r:embed="rId2"/>
          <a:stretch>
            <a:fillRect/>
          </a:stretch>
        </p:blipFill>
        <p:spPr>
          <a:xfrm>
            <a:off x="7422403" y="565689"/>
            <a:ext cx="2349500" cy="56705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700857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85406" y="965542"/>
            <a:ext cx="4476206" cy="5837495"/>
          </a:xfrm>
          <a:prstGeom prst="rect">
            <a:avLst/>
          </a:prstGeom>
        </p:spPr>
        <p:txBody>
          <a:bodyPr wrap="square">
            <a:spAutoFit/>
          </a:bodyPr>
          <a:lstStyle/>
          <a:p>
            <a:pPr algn="just">
              <a:lnSpc>
                <a:spcPct val="150000"/>
              </a:lnSpc>
              <a:spcAft>
                <a:spcPts val="800"/>
              </a:spcAft>
            </a:pPr>
            <a:r>
              <a:rPr lang="en-US" sz="1600" b="1" dirty="0">
                <a:latin typeface="Times New Roman" panose="02020603050405020304" pitchFamily="18" charset="0"/>
                <a:ea typeface="Calibri" panose="020F0502020204030204" pitchFamily="34" charset="0"/>
                <a:cs typeface="Times New Roman" panose="02020603050405020304" pitchFamily="18" charset="0"/>
              </a:rPr>
              <a:t>DFD DIAGRAM:</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600" dirty="0">
                <a:latin typeface="Times New Roman" panose="02020603050405020304" pitchFamily="18" charset="0"/>
                <a:ea typeface="Calibri" panose="020F0502020204030204" pitchFamily="34"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endParaRPr lang="en-IN" sz="1600" dirty="0">
              <a:latin typeface="Times New Roman" panose="02020603050405020304" pitchFamily="18" charset="0"/>
              <a:ea typeface="Times New Roman" panose="02020603050405020304" pitchFamily="18" charset="0"/>
            </a:endParaRPr>
          </a:p>
        </p:txBody>
      </p:sp>
      <p:sp>
        <p:nvSpPr>
          <p:cNvPr id="2" name="Rectangle 1"/>
          <p:cNvSpPr/>
          <p:nvPr/>
        </p:nvSpPr>
        <p:spPr>
          <a:xfrm>
            <a:off x="8075994" y="1124217"/>
            <a:ext cx="1787669" cy="463397"/>
          </a:xfrm>
          <a:prstGeom prst="rect">
            <a:avLst/>
          </a:prstGeom>
        </p:spPr>
        <p:txBody>
          <a:bodyPr wrap="none">
            <a:spAutoFit/>
          </a:bodyPr>
          <a:lstStyle/>
          <a:p>
            <a:pPr algn="just">
              <a:lnSpc>
                <a:spcPct val="150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latin typeface="Times New Roman" panose="02020603050405020304" pitchFamily="18" charset="0"/>
                <a:ea typeface="Calibri" panose="020F0502020204030204" pitchFamily="34" charset="0"/>
                <a:cs typeface="Times New Roman" panose="02020603050405020304" pitchFamily="18" charset="0"/>
              </a:rPr>
              <a:t> </a:t>
            </a:r>
            <a:r>
              <a:rPr lang="en-US" b="1" dirty="0">
                <a:latin typeface="Times New Roman" panose="02020603050405020304" pitchFamily="18" charset="0"/>
                <a:ea typeface="Calibri" panose="020F0502020204030204" pitchFamily="34" charset="0"/>
                <a:cs typeface="Times New Roman" panose="02020603050405020304" pitchFamily="18" charset="0"/>
              </a:rPr>
              <a:t>Contrast Level:</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p:cNvPicPr/>
          <p:nvPr/>
        </p:nvPicPr>
        <p:blipFill>
          <a:blip r:embed="rId3">
            <a:extLst>
              <a:ext uri="{28A0092B-C50C-407E-A947-70E740481C1C}">
                <a14:useLocalDpi xmlns:a14="http://schemas.microsoft.com/office/drawing/2010/main" val="0"/>
              </a:ext>
            </a:extLst>
          </a:blip>
          <a:stretch>
            <a:fillRect/>
          </a:stretch>
        </p:blipFill>
        <p:spPr>
          <a:xfrm>
            <a:off x="7587885" y="1946087"/>
            <a:ext cx="3097531" cy="4180392"/>
          </a:xfrm>
          <a:prstGeom prst="rect">
            <a:avLst/>
          </a:prstGeom>
        </p:spPr>
      </p:pic>
    </p:spTree>
    <p:extLst>
      <p:ext uri="{BB962C8B-B14F-4D97-AF65-F5344CB8AC3E}">
        <p14:creationId xmlns:p14="http://schemas.microsoft.com/office/powerpoint/2010/main" val="24337056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83817" y="312147"/>
            <a:ext cx="1890261" cy="463397"/>
          </a:xfrm>
          <a:prstGeom prst="rect">
            <a:avLst/>
          </a:prstGeom>
        </p:spPr>
        <p:txBody>
          <a:bodyPr wrap="none">
            <a:spAutoFit/>
          </a:bodyPr>
          <a:lstStyle/>
          <a:p>
            <a:pPr algn="just">
              <a:lnSpc>
                <a:spcPct val="150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latin typeface="Times New Roman" panose="02020603050405020304" pitchFamily="18" charset="0"/>
                <a:ea typeface="Calibri" panose="020F0502020204030204" pitchFamily="34" charset="0"/>
                <a:cs typeface="Times New Roman" panose="02020603050405020304" pitchFamily="18" charset="0"/>
              </a:rPr>
              <a:t>Level 1 Diagram</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21FCEAEC-896A-4D5A-803B-EE8F1332B08A}"/>
              </a:ext>
            </a:extLst>
          </p:cNvPr>
          <p:cNvPicPr/>
          <p:nvPr/>
        </p:nvPicPr>
        <p:blipFill>
          <a:blip r:embed="rId3"/>
          <a:stretch>
            <a:fillRect/>
          </a:stretch>
        </p:blipFill>
        <p:spPr>
          <a:xfrm>
            <a:off x="2596758" y="1343473"/>
            <a:ext cx="6998484" cy="499457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968265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40126" y="277028"/>
            <a:ext cx="1890261" cy="463397"/>
          </a:xfrm>
          <a:prstGeom prst="rect">
            <a:avLst/>
          </a:prstGeom>
        </p:spPr>
        <p:txBody>
          <a:bodyPr wrap="none">
            <a:spAutoFit/>
          </a:bodyPr>
          <a:lstStyle/>
          <a:p>
            <a:pPr algn="just">
              <a:lnSpc>
                <a:spcPct val="150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latin typeface="Times New Roman" panose="02020603050405020304" pitchFamily="18" charset="0"/>
                <a:ea typeface="Calibri" panose="020F0502020204030204" pitchFamily="34" charset="0"/>
                <a:cs typeface="Times New Roman" panose="02020603050405020304" pitchFamily="18" charset="0"/>
              </a:rPr>
              <a:t>Level 2 Diagram</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4F8629A1-01FB-4A08-944B-E4C8009F3743}"/>
              </a:ext>
            </a:extLst>
          </p:cNvPr>
          <p:cNvPicPr/>
          <p:nvPr/>
        </p:nvPicPr>
        <p:blipFill>
          <a:blip r:embed="rId3"/>
          <a:stretch>
            <a:fillRect/>
          </a:stretch>
        </p:blipFill>
        <p:spPr>
          <a:xfrm>
            <a:off x="3684494" y="508726"/>
            <a:ext cx="4529137" cy="60097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97316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33851" y="277028"/>
            <a:ext cx="902811" cy="463397"/>
          </a:xfrm>
          <a:prstGeom prst="rect">
            <a:avLst/>
          </a:prstGeom>
        </p:spPr>
        <p:txBody>
          <a:bodyPr wrap="none">
            <a:spAutoFit/>
          </a:bodyPr>
          <a:lstStyle/>
          <a:p>
            <a:pPr algn="just">
              <a:lnSpc>
                <a:spcPct val="150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latin typeface="Times New Roman" panose="02020603050405020304" pitchFamily="18" charset="0"/>
                <a:ea typeface="Calibri" panose="020F0502020204030204" pitchFamily="34" charset="0"/>
                <a:cs typeface="Times New Roman" panose="02020603050405020304" pitchFamily="18" charset="0"/>
              </a:rPr>
              <a:t>Results</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6DA6655E-1578-40CE-94FC-69FF1F5DB3E3}"/>
              </a:ext>
            </a:extLst>
          </p:cNvPr>
          <p:cNvSpPr/>
          <p:nvPr/>
        </p:nvSpPr>
        <p:spPr>
          <a:xfrm>
            <a:off x="1831745" y="5903028"/>
            <a:ext cx="3236462" cy="338554"/>
          </a:xfrm>
          <a:prstGeom prst="rect">
            <a:avLst/>
          </a:prstGeom>
        </p:spPr>
        <p:txBody>
          <a:bodyPr wrap="none">
            <a:spAutoFit/>
          </a:bodyPr>
          <a:lstStyle/>
          <a:p>
            <a:pPr algn="ctr">
              <a:spcAft>
                <a:spcPts val="0"/>
              </a:spcAft>
            </a:pPr>
            <a:r>
              <a:rPr lang="en-US" sz="1600" b="1" cap="small" spc="30" dirty="0">
                <a:latin typeface="Times New Roman" panose="02020603050405020304" pitchFamily="18" charset="0"/>
                <a:ea typeface="Times New Roman" panose="02020603050405020304" pitchFamily="18" charset="0"/>
              </a:rPr>
              <a:t>confusion matrix for yolov10</a:t>
            </a:r>
            <a:endParaRPr lang="en-IN" sz="1600" b="1" cap="small" spc="30" dirty="0">
              <a:effectLst/>
              <a:latin typeface="Times New Roman" panose="02020603050405020304" pitchFamily="18" charset="0"/>
              <a:ea typeface="Times New Roman" panose="02020603050405020304" pitchFamily="18" charset="0"/>
            </a:endParaRPr>
          </a:p>
        </p:txBody>
      </p:sp>
      <p:pic>
        <p:nvPicPr>
          <p:cNvPr id="5" name="Picture 4">
            <a:extLst>
              <a:ext uri="{FF2B5EF4-FFF2-40B4-BE49-F238E27FC236}">
                <a16:creationId xmlns:a16="http://schemas.microsoft.com/office/drawing/2014/main" id="{FE7AC530-51B1-42D8-8ADE-DC6AE0367997}"/>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7923" y="1663017"/>
            <a:ext cx="4702742" cy="3711262"/>
          </a:xfrm>
          <a:prstGeom prst="rect">
            <a:avLst/>
          </a:prstGeom>
          <a:noFill/>
          <a:ln>
            <a:noFill/>
          </a:ln>
        </p:spPr>
      </p:pic>
      <p:sp>
        <p:nvSpPr>
          <p:cNvPr id="4" name="Rectangle 3">
            <a:extLst>
              <a:ext uri="{FF2B5EF4-FFF2-40B4-BE49-F238E27FC236}">
                <a16:creationId xmlns:a16="http://schemas.microsoft.com/office/drawing/2014/main" id="{64A8A605-81B3-4E51-BEE7-A218509C11C6}"/>
              </a:ext>
            </a:extLst>
          </p:cNvPr>
          <p:cNvSpPr/>
          <p:nvPr/>
        </p:nvSpPr>
        <p:spPr>
          <a:xfrm>
            <a:off x="6096000" y="2275745"/>
            <a:ext cx="5839752" cy="2031325"/>
          </a:xfrm>
          <a:prstGeom prst="rect">
            <a:avLst/>
          </a:prstGeom>
        </p:spPr>
        <p:txBody>
          <a:bodyPr wrap="square">
            <a:spAutoFit/>
          </a:bodyPr>
          <a:lstStyle/>
          <a:p>
            <a:pPr>
              <a:spcAft>
                <a:spcPts val="0"/>
              </a:spcAft>
            </a:pPr>
            <a:r>
              <a:rPr lang="en-IN" sz="1400" dirty="0">
                <a:latin typeface="Times New Roman" panose="02020603050405020304" pitchFamily="18" charset="0"/>
                <a:ea typeface="Times New Roman" panose="02020603050405020304" pitchFamily="18" charset="0"/>
              </a:rPr>
              <a:t>The model predicts "</a:t>
            </a:r>
            <a:r>
              <a:rPr lang="en-IN" sz="1400" dirty="0" err="1">
                <a:latin typeface="Times New Roman" panose="02020603050405020304" pitchFamily="18" charset="0"/>
                <a:ea typeface="Times New Roman" panose="02020603050405020304" pitchFamily="18" charset="0"/>
              </a:rPr>
              <a:t>SafeDriving</a:t>
            </a:r>
            <a:r>
              <a:rPr lang="en-IN" sz="1400" dirty="0">
                <a:latin typeface="Times New Roman" panose="02020603050405020304" pitchFamily="18" charset="0"/>
                <a:ea typeface="Times New Roman" panose="02020603050405020304" pitchFamily="18" charset="0"/>
              </a:rPr>
              <a:t>" and "Background" with high accuracy (0.91 and 0.87 respectively).</a:t>
            </a:r>
          </a:p>
          <a:p>
            <a:pPr>
              <a:spcAft>
                <a:spcPts val="0"/>
              </a:spcAft>
            </a:pPr>
            <a:r>
              <a:rPr lang="en-IN" sz="1400" dirty="0">
                <a:latin typeface="Times New Roman" panose="02020603050405020304" pitchFamily="18" charset="0"/>
                <a:ea typeface="Times New Roman" panose="02020603050405020304" pitchFamily="18" charset="0"/>
              </a:rPr>
              <a:t>"Seatbelt" also shows strong performance with 0.83 correct predictions.</a:t>
            </a:r>
          </a:p>
          <a:p>
            <a:pPr>
              <a:spcAft>
                <a:spcPts val="0"/>
              </a:spcAft>
            </a:pPr>
            <a:r>
              <a:rPr lang="en-IN" sz="1400" dirty="0">
                <a:latin typeface="Times New Roman" panose="02020603050405020304" pitchFamily="18" charset="0"/>
                <a:ea typeface="Times New Roman" panose="02020603050405020304" pitchFamily="18" charset="0"/>
              </a:rPr>
              <a:t>Activities like "Eating", "Smoking", and "</a:t>
            </a:r>
            <a:r>
              <a:rPr lang="en-IN" sz="1400" dirty="0" err="1">
                <a:latin typeface="Times New Roman" panose="02020603050405020304" pitchFamily="18" charset="0"/>
                <a:ea typeface="Times New Roman" panose="02020603050405020304" pitchFamily="18" charset="0"/>
              </a:rPr>
              <a:t>PhoneUse</a:t>
            </a:r>
            <a:r>
              <a:rPr lang="en-IN" sz="1400" dirty="0">
                <a:latin typeface="Times New Roman" panose="02020603050405020304" pitchFamily="18" charset="0"/>
                <a:ea typeface="Times New Roman" panose="02020603050405020304" pitchFamily="18" charset="0"/>
              </a:rPr>
              <a:t>" are often confused with each other.</a:t>
            </a:r>
          </a:p>
          <a:p>
            <a:pPr>
              <a:spcAft>
                <a:spcPts val="0"/>
              </a:spcAft>
            </a:pPr>
            <a:r>
              <a:rPr lang="en-IN" sz="1400" dirty="0">
                <a:latin typeface="Times New Roman" panose="02020603050405020304" pitchFamily="18" charset="0"/>
                <a:ea typeface="Times New Roman" panose="02020603050405020304" pitchFamily="18" charset="0"/>
              </a:rPr>
              <a:t>"Distracted" has moderate accuracy (0.53) but is frequently misclassified as other activities.</a:t>
            </a:r>
          </a:p>
          <a:p>
            <a:pPr>
              <a:spcAft>
                <a:spcPts val="0"/>
              </a:spcAft>
            </a:pPr>
            <a:r>
              <a:rPr lang="en-IN" sz="1400" dirty="0">
                <a:latin typeface="Times New Roman" panose="02020603050405020304" pitchFamily="18" charset="0"/>
                <a:ea typeface="Times New Roman" panose="02020603050405020304" pitchFamily="18" charset="0"/>
              </a:rPr>
              <a:t>Overall, misclassifications are common among similar </a:t>
            </a:r>
            <a:r>
              <a:rPr lang="en-IN" sz="1400" dirty="0" err="1">
                <a:latin typeface="Times New Roman" panose="02020603050405020304" pitchFamily="18" charset="0"/>
                <a:ea typeface="Times New Roman" panose="02020603050405020304" pitchFamily="18" charset="0"/>
              </a:rPr>
              <a:t>behavior</a:t>
            </a:r>
            <a:r>
              <a:rPr lang="en-IN" sz="1400" dirty="0">
                <a:latin typeface="Times New Roman" panose="02020603050405020304" pitchFamily="18" charset="0"/>
                <a:ea typeface="Times New Roman" panose="02020603050405020304" pitchFamily="18" charset="0"/>
              </a:rPr>
              <a:t> classes, indicating room for refinement</a:t>
            </a:r>
            <a:endParaRPr lang="en-IN"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3438130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33851" y="277028"/>
            <a:ext cx="902811" cy="463397"/>
          </a:xfrm>
          <a:prstGeom prst="rect">
            <a:avLst/>
          </a:prstGeom>
        </p:spPr>
        <p:txBody>
          <a:bodyPr wrap="none">
            <a:spAutoFit/>
          </a:bodyPr>
          <a:lstStyle/>
          <a:p>
            <a:pPr algn="just">
              <a:lnSpc>
                <a:spcPct val="150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latin typeface="Times New Roman" panose="02020603050405020304" pitchFamily="18" charset="0"/>
                <a:ea typeface="Calibri" panose="020F0502020204030204" pitchFamily="34" charset="0"/>
                <a:cs typeface="Times New Roman" panose="02020603050405020304" pitchFamily="18" charset="0"/>
              </a:rPr>
              <a:t>Results</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AB6FC6B7-08C7-42A8-98E8-FB8DA1D427A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0650" y="1962316"/>
            <a:ext cx="5502275" cy="2750820"/>
          </a:xfrm>
          <a:prstGeom prst="rect">
            <a:avLst/>
          </a:prstGeom>
          <a:noFill/>
          <a:ln>
            <a:noFill/>
          </a:ln>
        </p:spPr>
      </p:pic>
      <p:sp>
        <p:nvSpPr>
          <p:cNvPr id="3" name="Rectangle 2">
            <a:extLst>
              <a:ext uri="{FF2B5EF4-FFF2-40B4-BE49-F238E27FC236}">
                <a16:creationId xmlns:a16="http://schemas.microsoft.com/office/drawing/2014/main" id="{41DD5484-11BB-475B-94AC-8BB10CA34C0B}"/>
              </a:ext>
            </a:extLst>
          </p:cNvPr>
          <p:cNvSpPr/>
          <p:nvPr/>
        </p:nvSpPr>
        <p:spPr>
          <a:xfrm>
            <a:off x="6015317" y="1371899"/>
            <a:ext cx="6096000" cy="3931654"/>
          </a:xfrm>
          <a:prstGeom prst="rect">
            <a:avLst/>
          </a:prstGeom>
        </p:spPr>
        <p:txBody>
          <a:bodyPr>
            <a:spAutoFit/>
          </a:bodyPr>
          <a:lstStyle/>
          <a:p>
            <a:pPr algn="just">
              <a:lnSpc>
                <a:spcPct val="150000"/>
              </a:lnSpc>
              <a:spcAft>
                <a:spcPts val="0"/>
              </a:spcAft>
            </a:pPr>
            <a:r>
              <a:rPr lang="en-IN" sz="1400" b="1" dirty="0">
                <a:latin typeface="Times New Roman" panose="02020603050405020304" pitchFamily="18" charset="0"/>
                <a:ea typeface="Times New Roman" panose="02020603050405020304" pitchFamily="18" charset="0"/>
              </a:rPr>
              <a:t>Loss Curves (Top &amp; Bottom Left)</a:t>
            </a:r>
            <a:endParaRPr lang="en-IN" sz="14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sz="1400" b="1" dirty="0">
                <a:latin typeface="Times New Roman" panose="02020603050405020304" pitchFamily="18" charset="0"/>
                <a:ea typeface="Times New Roman" panose="02020603050405020304" pitchFamily="18" charset="0"/>
              </a:rPr>
              <a:t>train/</a:t>
            </a:r>
            <a:r>
              <a:rPr lang="en-IN" sz="1400" b="1" dirty="0" err="1">
                <a:latin typeface="Times New Roman" panose="02020603050405020304" pitchFamily="18" charset="0"/>
                <a:ea typeface="Times New Roman" panose="02020603050405020304" pitchFamily="18" charset="0"/>
              </a:rPr>
              <a:t>box_loss</a:t>
            </a:r>
            <a:r>
              <a:rPr lang="en-IN" sz="1400" b="1" dirty="0">
                <a:latin typeface="Times New Roman" panose="02020603050405020304" pitchFamily="18" charset="0"/>
                <a:ea typeface="Times New Roman" panose="02020603050405020304" pitchFamily="18" charset="0"/>
              </a:rPr>
              <a:t>, </a:t>
            </a:r>
            <a:r>
              <a:rPr lang="en-IN" sz="1400" b="1" dirty="0" err="1">
                <a:latin typeface="Times New Roman" panose="02020603050405020304" pitchFamily="18" charset="0"/>
                <a:ea typeface="Times New Roman" panose="02020603050405020304" pitchFamily="18" charset="0"/>
              </a:rPr>
              <a:t>cls_loss</a:t>
            </a:r>
            <a:r>
              <a:rPr lang="en-IN" sz="1400" b="1" dirty="0">
                <a:latin typeface="Times New Roman" panose="02020603050405020304" pitchFamily="18" charset="0"/>
                <a:ea typeface="Times New Roman" panose="02020603050405020304" pitchFamily="18" charset="0"/>
              </a:rPr>
              <a:t>, </a:t>
            </a:r>
            <a:r>
              <a:rPr lang="en-IN" sz="1400" b="1" dirty="0" err="1">
                <a:latin typeface="Times New Roman" panose="02020603050405020304" pitchFamily="18" charset="0"/>
                <a:ea typeface="Times New Roman" panose="02020603050405020304" pitchFamily="18" charset="0"/>
              </a:rPr>
              <a:t>dfl_loss</a:t>
            </a:r>
            <a:r>
              <a:rPr lang="en-IN" sz="1400" b="1" dirty="0">
                <a:latin typeface="Times New Roman" panose="02020603050405020304" pitchFamily="18" charset="0"/>
                <a:ea typeface="Times New Roman" panose="02020603050405020304" pitchFamily="18" charset="0"/>
              </a:rPr>
              <a:t>:</a:t>
            </a:r>
            <a:r>
              <a:rPr lang="en-IN" sz="1400" dirty="0">
                <a:latin typeface="Times New Roman" panose="02020603050405020304" pitchFamily="18" charset="0"/>
                <a:ea typeface="Times New Roman" panose="02020603050405020304" pitchFamily="18" charset="0"/>
              </a:rPr>
              <a:t> These losses steadily decrease, showing the model is learning to localize and classify objects better during training.</a:t>
            </a:r>
          </a:p>
          <a:p>
            <a:pPr marL="342900" lvl="0" indent="-342900" algn="just">
              <a:lnSpc>
                <a:spcPct val="150000"/>
              </a:lnSpc>
              <a:spcAft>
                <a:spcPts val="0"/>
              </a:spcAft>
              <a:buSzPts val="1000"/>
              <a:buFont typeface="Symbol" panose="05050102010706020507" pitchFamily="18" charset="2"/>
              <a:buChar char=""/>
              <a:tabLst>
                <a:tab pos="457200" algn="l"/>
              </a:tabLst>
            </a:pPr>
            <a:r>
              <a:rPr lang="en-IN" sz="1400" b="1" dirty="0" err="1">
                <a:latin typeface="Times New Roman" panose="02020603050405020304" pitchFamily="18" charset="0"/>
                <a:ea typeface="Times New Roman" panose="02020603050405020304" pitchFamily="18" charset="0"/>
              </a:rPr>
              <a:t>val</a:t>
            </a:r>
            <a:r>
              <a:rPr lang="en-IN" sz="1400" b="1" dirty="0">
                <a:latin typeface="Times New Roman" panose="02020603050405020304" pitchFamily="18" charset="0"/>
                <a:ea typeface="Times New Roman" panose="02020603050405020304" pitchFamily="18" charset="0"/>
              </a:rPr>
              <a:t>/</a:t>
            </a:r>
            <a:r>
              <a:rPr lang="en-IN" sz="1400" b="1" dirty="0" err="1">
                <a:latin typeface="Times New Roman" panose="02020603050405020304" pitchFamily="18" charset="0"/>
                <a:ea typeface="Times New Roman" panose="02020603050405020304" pitchFamily="18" charset="0"/>
              </a:rPr>
              <a:t>box_loss</a:t>
            </a:r>
            <a:r>
              <a:rPr lang="en-IN" sz="1400" b="1" dirty="0">
                <a:latin typeface="Times New Roman" panose="02020603050405020304" pitchFamily="18" charset="0"/>
                <a:ea typeface="Times New Roman" panose="02020603050405020304" pitchFamily="18" charset="0"/>
              </a:rPr>
              <a:t>, </a:t>
            </a:r>
            <a:r>
              <a:rPr lang="en-IN" sz="1400" b="1" dirty="0" err="1">
                <a:latin typeface="Times New Roman" panose="02020603050405020304" pitchFamily="18" charset="0"/>
                <a:ea typeface="Times New Roman" panose="02020603050405020304" pitchFamily="18" charset="0"/>
              </a:rPr>
              <a:t>cls_loss</a:t>
            </a:r>
            <a:r>
              <a:rPr lang="en-IN" sz="1400" b="1" dirty="0">
                <a:latin typeface="Times New Roman" panose="02020603050405020304" pitchFamily="18" charset="0"/>
                <a:ea typeface="Times New Roman" panose="02020603050405020304" pitchFamily="18" charset="0"/>
              </a:rPr>
              <a:t>, </a:t>
            </a:r>
            <a:r>
              <a:rPr lang="en-IN" sz="1400" b="1" dirty="0" err="1">
                <a:latin typeface="Times New Roman" panose="02020603050405020304" pitchFamily="18" charset="0"/>
                <a:ea typeface="Times New Roman" panose="02020603050405020304" pitchFamily="18" charset="0"/>
              </a:rPr>
              <a:t>dfl_loss</a:t>
            </a:r>
            <a:r>
              <a:rPr lang="en-IN" sz="1400" b="1" dirty="0">
                <a:latin typeface="Times New Roman" panose="02020603050405020304" pitchFamily="18" charset="0"/>
                <a:ea typeface="Times New Roman" panose="02020603050405020304" pitchFamily="18" charset="0"/>
              </a:rPr>
              <a:t>:</a:t>
            </a:r>
            <a:r>
              <a:rPr lang="en-IN" sz="1400" dirty="0">
                <a:latin typeface="Times New Roman" panose="02020603050405020304" pitchFamily="18" charset="0"/>
                <a:ea typeface="Times New Roman" panose="02020603050405020304" pitchFamily="18" charset="0"/>
              </a:rPr>
              <a:t> Validation losses also drop, indicating good generalization and no overfitting.</a:t>
            </a:r>
          </a:p>
          <a:p>
            <a:pPr algn="just">
              <a:lnSpc>
                <a:spcPct val="150000"/>
              </a:lnSpc>
              <a:spcAft>
                <a:spcPts val="0"/>
              </a:spcAft>
            </a:pPr>
            <a:r>
              <a:rPr lang="en-IN" sz="1400" dirty="0">
                <a:latin typeface="Times New Roman" panose="02020603050405020304" pitchFamily="18" charset="0"/>
                <a:ea typeface="Times New Roman" panose="02020603050405020304" pitchFamily="18" charset="0"/>
              </a:rPr>
              <a:t> </a:t>
            </a:r>
            <a:r>
              <a:rPr lang="en-IN" sz="1400" b="1" dirty="0">
                <a:latin typeface="Times New Roman" panose="02020603050405020304" pitchFamily="18" charset="0"/>
                <a:ea typeface="Times New Roman" panose="02020603050405020304" pitchFamily="18" charset="0"/>
              </a:rPr>
              <a:t>Performance Metrics (Top &amp; Bottom Right)</a:t>
            </a:r>
            <a:endParaRPr lang="en-IN" sz="14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sz="1400" b="1" dirty="0">
                <a:latin typeface="Times New Roman" panose="02020603050405020304" pitchFamily="18" charset="0"/>
                <a:ea typeface="Times New Roman" panose="02020603050405020304" pitchFamily="18" charset="0"/>
              </a:rPr>
              <a:t>Precision &amp; Recall:</a:t>
            </a:r>
            <a:r>
              <a:rPr lang="en-IN" sz="1400" dirty="0">
                <a:latin typeface="Times New Roman" panose="02020603050405020304" pitchFamily="18" charset="0"/>
                <a:ea typeface="Times New Roman" panose="02020603050405020304" pitchFamily="18" charset="0"/>
              </a:rPr>
              <a:t> Both improve over epochs, meaning the model is getting better at correctly identifying objects and finding more of them.</a:t>
            </a:r>
          </a:p>
          <a:p>
            <a:pPr marL="342900" lvl="0" indent="-342900" algn="just">
              <a:lnSpc>
                <a:spcPct val="150000"/>
              </a:lnSpc>
              <a:spcAft>
                <a:spcPts val="0"/>
              </a:spcAft>
              <a:buSzPts val="1000"/>
              <a:buFont typeface="Symbol" panose="05050102010706020507" pitchFamily="18" charset="2"/>
              <a:buChar char=""/>
              <a:tabLst>
                <a:tab pos="457200" algn="l"/>
              </a:tabLst>
            </a:pPr>
            <a:r>
              <a:rPr lang="en-IN" sz="1400" b="1" dirty="0">
                <a:latin typeface="Times New Roman" panose="02020603050405020304" pitchFamily="18" charset="0"/>
                <a:ea typeface="Times New Roman" panose="02020603050405020304" pitchFamily="18" charset="0"/>
              </a:rPr>
              <a:t>mAP@0.5:</a:t>
            </a:r>
            <a:r>
              <a:rPr lang="en-IN" sz="1400" dirty="0">
                <a:latin typeface="Times New Roman" panose="02020603050405020304" pitchFamily="18" charset="0"/>
                <a:ea typeface="Times New Roman" panose="02020603050405020304" pitchFamily="18" charset="0"/>
              </a:rPr>
              <a:t> Rises consistently, showing strong detection accuracy at standard </a:t>
            </a:r>
            <a:r>
              <a:rPr lang="en-IN" sz="1400" dirty="0" err="1">
                <a:latin typeface="Times New Roman" panose="02020603050405020304" pitchFamily="18" charset="0"/>
                <a:ea typeface="Times New Roman" panose="02020603050405020304" pitchFamily="18" charset="0"/>
              </a:rPr>
              <a:t>IoU</a:t>
            </a:r>
            <a:r>
              <a:rPr lang="en-IN" sz="1400" dirty="0">
                <a:latin typeface="Times New Roman" panose="02020603050405020304" pitchFamily="18" charset="0"/>
                <a:ea typeface="Times New Roman" panose="02020603050405020304" pitchFamily="18" charset="0"/>
              </a:rPr>
              <a:t> threshold.</a:t>
            </a:r>
          </a:p>
          <a:p>
            <a:pPr marL="342900" lvl="0" indent="-342900" algn="just">
              <a:lnSpc>
                <a:spcPct val="150000"/>
              </a:lnSpc>
              <a:spcAft>
                <a:spcPts val="0"/>
              </a:spcAft>
              <a:buSzPts val="1000"/>
              <a:buFont typeface="Symbol" panose="05050102010706020507" pitchFamily="18" charset="2"/>
              <a:buChar char=""/>
              <a:tabLst>
                <a:tab pos="457200" algn="l"/>
              </a:tabLst>
            </a:pPr>
            <a:r>
              <a:rPr lang="en-IN" sz="1400" b="1" dirty="0">
                <a:latin typeface="Times New Roman" panose="02020603050405020304" pitchFamily="18" charset="0"/>
                <a:ea typeface="Times New Roman" panose="02020603050405020304" pitchFamily="18" charset="0"/>
              </a:rPr>
              <a:t>mAP@0.5–0.95:</a:t>
            </a:r>
            <a:r>
              <a:rPr lang="en-IN" sz="1400" dirty="0">
                <a:latin typeface="Times New Roman" panose="02020603050405020304" pitchFamily="18" charset="0"/>
                <a:ea typeface="Times New Roman" panose="02020603050405020304" pitchFamily="18" charset="0"/>
              </a:rPr>
              <a:t> Also increases, reflecting robust performance across stricter overlap criteria.</a:t>
            </a:r>
            <a:endParaRPr lang="en-IN"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8733939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27156" y="129494"/>
            <a:ext cx="1351652" cy="463397"/>
          </a:xfrm>
          <a:prstGeom prst="rect">
            <a:avLst/>
          </a:prstGeom>
        </p:spPr>
        <p:txBody>
          <a:bodyPr wrap="none">
            <a:spAutoFit/>
          </a:bodyPr>
          <a:lstStyle/>
          <a:p>
            <a:pPr algn="just">
              <a:lnSpc>
                <a:spcPct val="150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latin typeface="Times New Roman" panose="02020603050405020304" pitchFamily="18" charset="0"/>
                <a:ea typeface="Calibri" panose="020F0502020204030204" pitchFamily="34" charset="0"/>
                <a:cs typeface="Times New Roman" panose="02020603050405020304" pitchFamily="18" charset="0"/>
              </a:rPr>
              <a:t>Conclusion</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716151" y="707907"/>
            <a:ext cx="11038113" cy="585955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Smart Driver Monitoring System with Live Alerts using Flask and YOLOv10 successfully demonstrates an automated approach to monitoring driver behavior. The system is capable of identifying multiple driver states such as drowsiness, distraction, drinking, eating, phone use, smoking, seatbelt usage, and safe driving in real time. By integrating YOLOv10 for detection and Flask for the web interface, the project achieves smooth communication between the backend processing and the frontend display.</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A key achievement of this project is the real-time alert mechanism. When unsafe behaviors like drowsiness or distraction are detected, the system automatically sends an email notification to the administrator. This feature ensures timely awareness of potential risks without manual supervision. The modular structure, including Home, Register, Login, Detection, and Logout, provides organized user access and secure session management.</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The system also demonstrates effective use of deep learning for behavior recognition, preprocessing of live video frames, and real-time prediction display on the web interface. Overall, the project provides a practical and efficient framework for monitoring driver safety. It serves as a foundation for further enhancements, such as integration with multiple cameras or advanced attention mechanisms, and contributes to research in automated behavior monitoring and alert systems.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34896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54311" y="0"/>
            <a:ext cx="9720072" cy="770709"/>
          </a:xfrm>
        </p:spPr>
        <p:txBody>
          <a:bodyPr>
            <a:normAutofit/>
          </a:bodyPr>
          <a:lstStyle/>
          <a:p>
            <a:pPr lvl="2" algn="ctr">
              <a:lnSpc>
                <a:spcPct val="170000"/>
              </a:lnSpc>
            </a:pPr>
            <a:r>
              <a:rPr lang="en-US" sz="3000" u="sng" dirty="0">
                <a:latin typeface="Times New Roman" panose="02020603050405020304" pitchFamily="18" charset="0"/>
                <a:cs typeface="Times New Roman" panose="02020603050405020304" pitchFamily="18" charset="0"/>
              </a:rPr>
              <a:t>REFERENCES</a:t>
            </a:r>
          </a:p>
        </p:txBody>
      </p:sp>
      <p:sp>
        <p:nvSpPr>
          <p:cNvPr id="8" name="Rectangle 7"/>
          <p:cNvSpPr/>
          <p:nvPr/>
        </p:nvSpPr>
        <p:spPr>
          <a:xfrm>
            <a:off x="854311" y="1154526"/>
            <a:ext cx="11086012" cy="4613058"/>
          </a:xfrm>
          <a:prstGeom prst="rect">
            <a:avLst/>
          </a:prstGeom>
        </p:spPr>
        <p:txBody>
          <a:bodyPr wrap="square">
            <a:spAutoFit/>
          </a:bodyPr>
          <a:lstStyle/>
          <a:p>
            <a:pPr lvl="0" algn="just">
              <a:lnSpc>
                <a:spcPct val="150000"/>
              </a:lnSpc>
            </a:pPr>
            <a:r>
              <a:rPr lang="en-US" dirty="0">
                <a:latin typeface="Times New Roman" panose="02020603050405020304" pitchFamily="18" charset="0"/>
                <a:cs typeface="Times New Roman" panose="02020603050405020304" pitchFamily="18" charset="0"/>
              </a:rPr>
              <a:t>Safarov, F., </a:t>
            </a:r>
            <a:r>
              <a:rPr lang="en-US" dirty="0" err="1">
                <a:latin typeface="Times New Roman" panose="02020603050405020304" pitchFamily="18" charset="0"/>
                <a:cs typeface="Times New Roman" panose="02020603050405020304" pitchFamily="18" charset="0"/>
              </a:rPr>
              <a:t>Akhmedov</a:t>
            </a:r>
            <a:r>
              <a:rPr lang="en-US" dirty="0">
                <a:latin typeface="Times New Roman" panose="02020603050405020304" pitchFamily="18" charset="0"/>
                <a:cs typeface="Times New Roman" panose="02020603050405020304" pitchFamily="18" charset="0"/>
              </a:rPr>
              <a:t>, F., </a:t>
            </a:r>
            <a:r>
              <a:rPr lang="en-US" dirty="0" err="1">
                <a:latin typeface="Times New Roman" panose="02020603050405020304" pitchFamily="18" charset="0"/>
                <a:cs typeface="Times New Roman" panose="02020603050405020304" pitchFamily="18" charset="0"/>
              </a:rPr>
              <a:t>Abdusalomov</a:t>
            </a:r>
            <a:r>
              <a:rPr lang="en-US" dirty="0">
                <a:latin typeface="Times New Roman" panose="02020603050405020304" pitchFamily="18" charset="0"/>
                <a:cs typeface="Times New Roman" panose="02020603050405020304" pitchFamily="18" charset="0"/>
              </a:rPr>
              <a:t>, A. B., </a:t>
            </a:r>
            <a:r>
              <a:rPr lang="en-US" dirty="0" err="1">
                <a:latin typeface="Times New Roman" panose="02020603050405020304" pitchFamily="18" charset="0"/>
                <a:cs typeface="Times New Roman" panose="02020603050405020304" pitchFamily="18" charset="0"/>
              </a:rPr>
              <a:t>Nasimov</a:t>
            </a:r>
            <a:r>
              <a:rPr lang="en-US" dirty="0">
                <a:latin typeface="Times New Roman" panose="02020603050405020304" pitchFamily="18" charset="0"/>
                <a:cs typeface="Times New Roman" panose="02020603050405020304" pitchFamily="18" charset="0"/>
              </a:rPr>
              <a:t>, R., &amp; Cho, Y. I. (2023). Real-Time Deep Learning-Based Drowsiness Detection: Leveraging Computer-Vision and Eye-Blink Analyses for Enhanced Road Safety. </a:t>
            </a:r>
            <a:r>
              <a:rPr lang="en-US" i="1" dirty="0">
                <a:latin typeface="Times New Roman" panose="02020603050405020304" pitchFamily="18" charset="0"/>
                <a:cs typeface="Times New Roman" panose="02020603050405020304" pitchFamily="18" charset="0"/>
              </a:rPr>
              <a:t>Sensors</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2"/>
              </a:rPr>
              <a:t>https://doi.org/10.3390/s23146459</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3" tooltip="Real-Time Deep Learning-Based Drowsiness Detection: Leveraging Computer-Vision and Eye-Blink Analyses for Enhanced Road Safety"/>
              </a:rPr>
              <a:t>MDPI</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F. M. (2023). Detection of Drowsiness among Drivers Using Novel Deep Convolutional Neural Network Model. </a:t>
            </a:r>
            <a:r>
              <a:rPr lang="en-US" i="1" dirty="0">
                <a:latin typeface="Times New Roman" panose="02020603050405020304" pitchFamily="18" charset="0"/>
                <a:cs typeface="Times New Roman" panose="02020603050405020304" pitchFamily="18" charset="0"/>
              </a:rPr>
              <a:t>Sensors</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4"/>
              </a:rPr>
              <a:t>https://doi.org/10.3390/s23218741</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5" tooltip="Detection of Drowsiness among Drivers Using Novel Deep Convolutional Neural Network Model"/>
              </a:rPr>
              <a:t>MDPI</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A. C. Phan, … (2023). Driver drowsiness detection and smart alerting using deep learning and IoT. </a:t>
            </a:r>
            <a:r>
              <a:rPr lang="en-US" i="1" dirty="0">
                <a:latin typeface="Times New Roman" panose="02020603050405020304" pitchFamily="18" charset="0"/>
                <a:cs typeface="Times New Roman" panose="02020603050405020304" pitchFamily="18" charset="0"/>
              </a:rPr>
              <a:t>ScienceDirect</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6"/>
              </a:rPr>
              <a:t>https://doi.org/10.1016/j.something.S2542660523000288</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7" tooltip="Driver drowsiness detection and smart alerting using deep ..."/>
              </a:rPr>
              <a:t>ScienceDirect</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Q. Shen, … (2024). Distracted Driving Behavior Detection Algorithm Based on </a:t>
            </a:r>
            <a:r>
              <a:rPr lang="en-US" dirty="0" err="1">
                <a:latin typeface="Times New Roman" panose="02020603050405020304" pitchFamily="18" charset="0"/>
                <a:cs typeface="Times New Roman" panose="02020603050405020304" pitchFamily="18" charset="0"/>
              </a:rPr>
              <a:t>StarDL</a:t>
            </a:r>
            <a:r>
              <a:rPr lang="en-US" dirty="0">
                <a:latin typeface="Times New Roman" panose="02020603050405020304" pitchFamily="18" charset="0"/>
                <a:cs typeface="Times New Roman" panose="02020603050405020304" pitchFamily="18" charset="0"/>
              </a:rPr>
              <a:t>-YOLO. </a:t>
            </a:r>
            <a:r>
              <a:rPr lang="en-US" i="1" dirty="0">
                <a:latin typeface="Times New Roman" panose="02020603050405020304" pitchFamily="18" charset="0"/>
                <a:cs typeface="Times New Roman" panose="02020603050405020304" pitchFamily="18" charset="0"/>
              </a:rPr>
              <a:t>Electronics</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8"/>
              </a:rPr>
              <a:t>https://doi.org/10.3390/electronics13163216</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9" tooltip="Distracted Driving Behavior Detection Algorithm Based on ..."/>
              </a:rPr>
              <a:t>MDPI</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H. Gao, … (2024). Improving real-time driver distraction detection via constrained attention mechanism. </a:t>
            </a:r>
            <a:r>
              <a:rPr lang="en-US" i="1" dirty="0">
                <a:latin typeface="Times New Roman" panose="02020603050405020304" pitchFamily="18" charset="0"/>
                <a:cs typeface="Times New Roman" panose="02020603050405020304" pitchFamily="18" charset="0"/>
              </a:rPr>
              <a:t>Elsevier</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10"/>
              </a:rPr>
              <a:t>https://doi.org/10.1016/j.ins.2023.09.062</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11" tooltip="Improving real-time driver distraction detection via ..."/>
              </a:rPr>
              <a:t>ScienceDirect</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8864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61888" y="0"/>
            <a:ext cx="9720072" cy="770709"/>
          </a:xfrm>
        </p:spPr>
        <p:txBody>
          <a:bodyPr>
            <a:normAutofit/>
          </a:bodyPr>
          <a:lstStyle/>
          <a:p>
            <a:pPr lvl="2" algn="ctr">
              <a:lnSpc>
                <a:spcPct val="170000"/>
              </a:lnSpc>
            </a:pPr>
            <a:r>
              <a:rPr lang="en-US" sz="3000" u="sng" dirty="0">
                <a:latin typeface="Times New Roman" panose="02020603050405020304" pitchFamily="18" charset="0"/>
                <a:cs typeface="Times New Roman" panose="02020603050405020304" pitchFamily="18" charset="0"/>
              </a:rPr>
              <a:t>REFERENCES</a:t>
            </a:r>
          </a:p>
        </p:txBody>
      </p:sp>
      <p:sp>
        <p:nvSpPr>
          <p:cNvPr id="5" name="Rectangle 4">
            <a:extLst>
              <a:ext uri="{FF2B5EF4-FFF2-40B4-BE49-F238E27FC236}">
                <a16:creationId xmlns:a16="http://schemas.microsoft.com/office/drawing/2014/main" id="{601FFB03-F4A2-454A-97F6-EA34E3065B01}"/>
              </a:ext>
            </a:extLst>
          </p:cNvPr>
          <p:cNvSpPr/>
          <p:nvPr/>
        </p:nvSpPr>
        <p:spPr>
          <a:xfrm>
            <a:off x="961888" y="1122471"/>
            <a:ext cx="10575688" cy="5028556"/>
          </a:xfrm>
          <a:prstGeom prst="rect">
            <a:avLst/>
          </a:prstGeom>
        </p:spPr>
        <p:txBody>
          <a:bodyPr wrap="square">
            <a:spAutoFit/>
          </a:bodyPr>
          <a:lstStyle/>
          <a:p>
            <a:pPr lvl="0" algn="just">
              <a:lnSpc>
                <a:spcPct val="150000"/>
              </a:lnSpc>
            </a:pPr>
            <a:r>
              <a:rPr lang="en-US" dirty="0">
                <a:latin typeface="Times New Roman" panose="02020603050405020304" pitchFamily="18" charset="0"/>
                <a:cs typeface="Times New Roman" panose="02020603050405020304" pitchFamily="18" charset="0"/>
              </a:rPr>
              <a:t>C. </a:t>
            </a:r>
            <a:r>
              <a:rPr lang="en-US" dirty="0" err="1">
                <a:latin typeface="Times New Roman" panose="02020603050405020304" pitchFamily="18" charset="0"/>
                <a:cs typeface="Times New Roman" panose="02020603050405020304" pitchFamily="18" charset="0"/>
              </a:rPr>
              <a:t>Khraief</a:t>
            </a:r>
            <a:r>
              <a:rPr lang="en-US" dirty="0">
                <a:latin typeface="Times New Roman" panose="02020603050405020304" pitchFamily="18" charset="0"/>
                <a:cs typeface="Times New Roman" panose="02020603050405020304" pitchFamily="18" charset="0"/>
              </a:rPr>
              <a:t> Ouled </a:t>
            </a:r>
            <a:r>
              <a:rPr lang="en-US" dirty="0" err="1">
                <a:latin typeface="Times New Roman" panose="02020603050405020304" pitchFamily="18" charset="0"/>
                <a:cs typeface="Times New Roman" panose="02020603050405020304" pitchFamily="18" charset="0"/>
              </a:rPr>
              <a:t>Azaiz</a:t>
            </a:r>
            <a:r>
              <a:rPr lang="en-US" dirty="0">
                <a:latin typeface="Times New Roman" panose="02020603050405020304" pitchFamily="18" charset="0"/>
                <a:cs typeface="Times New Roman" panose="02020603050405020304" pitchFamily="18" charset="0"/>
              </a:rPr>
              <a:t>, … (2023). In-cabin occupant monitoring system based on improved YOLO, deep reinforcement learning, and multi-task CNN. </a:t>
            </a:r>
            <a:r>
              <a:rPr lang="en-US" i="1" dirty="0">
                <a:latin typeface="Times New Roman" panose="02020603050405020304" pitchFamily="18" charset="0"/>
                <a:cs typeface="Times New Roman" panose="02020603050405020304" pitchFamily="18" charset="0"/>
              </a:rPr>
              <a:t>SPIE Proceedings</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2"/>
              </a:rPr>
              <a:t>https://doi.org/10.1117/12.XXXXX</a:t>
            </a:r>
            <a:r>
              <a:rPr lang="en-US" dirty="0">
                <a:latin typeface="Times New Roman" panose="02020603050405020304" pitchFamily="18" charset="0"/>
                <a:cs typeface="Times New Roman" panose="02020603050405020304" pitchFamily="18" charset="0"/>
              </a:rPr>
              <a:t> (2023) (</a:t>
            </a:r>
            <a:r>
              <a:rPr lang="en-US" u="sng" dirty="0" err="1">
                <a:latin typeface="Times New Roman" panose="02020603050405020304" pitchFamily="18" charset="0"/>
                <a:cs typeface="Times New Roman" panose="02020603050405020304" pitchFamily="18" charset="0"/>
                <a:hlinkClick r:id="rId3" tooltip="In-cabin occupant monitoring system based on improved ..."/>
              </a:rPr>
              <a:t>Adsabs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F. </a:t>
            </a:r>
            <a:r>
              <a:rPr lang="en-US" dirty="0" err="1">
                <a:latin typeface="Times New Roman" panose="02020603050405020304" pitchFamily="18" charset="0"/>
                <a:cs typeface="Times New Roman" panose="02020603050405020304" pitchFamily="18" charset="0"/>
              </a:rPr>
              <a:t>Zandamela</a:t>
            </a:r>
            <a:r>
              <a:rPr lang="en-US" dirty="0">
                <a:latin typeface="Times New Roman" panose="02020603050405020304" pitchFamily="18" charset="0"/>
                <a:cs typeface="Times New Roman" panose="02020603050405020304" pitchFamily="18" charset="0"/>
              </a:rPr>
              <a:t>, D. Kunene, V. </a:t>
            </a:r>
            <a:r>
              <a:rPr lang="en-US" dirty="0" err="1">
                <a:latin typeface="Times New Roman" panose="02020603050405020304" pitchFamily="18" charset="0"/>
                <a:cs typeface="Times New Roman" panose="02020603050405020304" pitchFamily="18" charset="0"/>
              </a:rPr>
              <a:t>Skosana</a:t>
            </a:r>
            <a:r>
              <a:rPr lang="en-US" dirty="0">
                <a:latin typeface="Times New Roman" panose="02020603050405020304" pitchFamily="18" charset="0"/>
                <a:cs typeface="Times New Roman" panose="02020603050405020304" pitchFamily="18" charset="0"/>
              </a:rPr>
              <a:t> &amp; G. Stoltz (2024). Lightweight YOLO for distracted driver detection on edge devices. </a:t>
            </a:r>
            <a:r>
              <a:rPr lang="en-US" i="1" dirty="0">
                <a:latin typeface="Times New Roman" panose="02020603050405020304" pitchFamily="18" charset="0"/>
                <a:cs typeface="Times New Roman" panose="02020603050405020304" pitchFamily="18" charset="0"/>
              </a:rPr>
              <a:t>MATEC Web of Conferences</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4"/>
              </a:rPr>
              <a:t>https://doi.org/10.1051/matecconf/202440610001</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5" tooltip="Lightweight YOLO for distracted driver detection on edge ..."/>
              </a:rPr>
              <a:t>ResearchGate</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R. </a:t>
            </a:r>
            <a:r>
              <a:rPr lang="en-US" dirty="0" err="1">
                <a:latin typeface="Times New Roman" panose="02020603050405020304" pitchFamily="18" charset="0"/>
                <a:cs typeface="Times New Roman" panose="02020603050405020304" pitchFamily="18" charset="0"/>
              </a:rPr>
              <a:t>Salakapuri</a:t>
            </a:r>
            <a:r>
              <a:rPr lang="en-US" dirty="0">
                <a:latin typeface="Times New Roman" panose="02020603050405020304" pitchFamily="18" charset="0"/>
                <a:cs typeface="Times New Roman" panose="02020603050405020304" pitchFamily="18" charset="0"/>
              </a:rPr>
              <a:t>, … (2025). Integrated deep learning framework for driver distraction detection combining CNNs and YOLO. </a:t>
            </a:r>
            <a:r>
              <a:rPr lang="en-US" i="1" dirty="0">
                <a:latin typeface="Times New Roman" panose="02020603050405020304" pitchFamily="18" charset="0"/>
                <a:cs typeface="Times New Roman" panose="02020603050405020304" pitchFamily="18" charset="0"/>
              </a:rPr>
              <a:t>Scientific Reports</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6"/>
              </a:rPr>
              <a:t>https://doi.org/10.1038/s41598-025-08475-4</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7" tooltip="Integrated deep learning framework for driver distraction ..."/>
              </a:rPr>
              <a:t>Nature</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Y. Ma, V. Sanchez, S. </a:t>
            </a:r>
            <a:r>
              <a:rPr lang="en-US" dirty="0" err="1">
                <a:latin typeface="Times New Roman" panose="02020603050405020304" pitchFamily="18" charset="0"/>
                <a:cs typeface="Times New Roman" panose="02020603050405020304" pitchFamily="18" charset="0"/>
              </a:rPr>
              <a:t>Nikan</a:t>
            </a:r>
            <a:r>
              <a:rPr lang="en-US" dirty="0">
                <a:latin typeface="Times New Roman" panose="02020603050405020304" pitchFamily="18" charset="0"/>
                <a:cs typeface="Times New Roman" panose="02020603050405020304" pitchFamily="18" charset="0"/>
              </a:rPr>
              <a:t>, D. Upadhyay, B. </a:t>
            </a:r>
            <a:r>
              <a:rPr lang="en-US" dirty="0" err="1">
                <a:latin typeface="Times New Roman" panose="02020603050405020304" pitchFamily="18" charset="0"/>
                <a:cs typeface="Times New Roman" panose="02020603050405020304" pitchFamily="18" charset="0"/>
              </a:rPr>
              <a:t>Atote</a:t>
            </a:r>
            <a:r>
              <a:rPr lang="en-US" dirty="0">
                <a:latin typeface="Times New Roman" panose="02020603050405020304" pitchFamily="18" charset="0"/>
                <a:cs typeface="Times New Roman" panose="02020603050405020304" pitchFamily="18" charset="0"/>
              </a:rPr>
              <a:t> &amp; T. Guha (2023). Robust Multiview Multimodal Driver Monitoring System Using Masked Multi-Head Self-Attention. </a:t>
            </a:r>
            <a:r>
              <a:rPr lang="en-US" i="1" dirty="0" err="1">
                <a:latin typeface="Times New Roman" panose="02020603050405020304" pitchFamily="18" charset="0"/>
                <a:cs typeface="Times New Roman" panose="02020603050405020304" pitchFamily="18" charset="0"/>
              </a:rPr>
              <a:t>arXiv</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8"/>
              </a:rPr>
              <a:t>https://arxiv.org/abs/2304.06370</a:t>
            </a:r>
            <a:r>
              <a:rPr lang="en-US" dirty="0">
                <a:latin typeface="Times New Roman" panose="02020603050405020304" pitchFamily="18" charset="0"/>
                <a:cs typeface="Times New Roman" panose="02020603050405020304" pitchFamily="18" charset="0"/>
              </a:rPr>
              <a:t> (</a:t>
            </a:r>
            <a:r>
              <a:rPr lang="en-US" u="sng" dirty="0" err="1">
                <a:latin typeface="Times New Roman" panose="02020603050405020304" pitchFamily="18" charset="0"/>
                <a:cs typeface="Times New Roman" panose="02020603050405020304" pitchFamily="18" charset="0"/>
                <a:hlinkClick r:id="rId9" tooltip="Robust Multiview Multimodal Driver Monitoring System Using Masked Multi-Head Self-Attention"/>
              </a:rPr>
              <a:t>arXiv</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F. Qu, … (2024). Comprehensive study of driver behavior monitoring systems based on neural networks: taxonomy, challenges, and future directions. </a:t>
            </a:r>
            <a:r>
              <a:rPr lang="en-US" i="1" dirty="0">
                <a:latin typeface="Times New Roman" panose="02020603050405020304" pitchFamily="18" charset="0"/>
                <a:cs typeface="Times New Roman" panose="02020603050405020304" pitchFamily="18" charset="0"/>
              </a:rPr>
              <a:t>Journal of Big Data</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10"/>
              </a:rPr>
              <a:t>https://doi.org/10.1186/s40537-024-00890-0</a:t>
            </a:r>
            <a:r>
              <a:rPr lang="en-US" dirty="0">
                <a:latin typeface="Times New Roman" panose="02020603050405020304" pitchFamily="18" charset="0"/>
                <a:cs typeface="Times New Roman" panose="02020603050405020304" pitchFamily="18" charset="0"/>
              </a:rPr>
              <a:t> (</a:t>
            </a:r>
            <a:r>
              <a:rPr lang="en-US" u="sng" dirty="0" err="1">
                <a:latin typeface="Times New Roman" panose="02020603050405020304" pitchFamily="18" charset="0"/>
                <a:cs typeface="Times New Roman" panose="02020603050405020304" pitchFamily="18" charset="0"/>
                <a:hlinkClick r:id="rId11" tooltip="Comprehensive study of driver behavior monitoring systems ..."/>
              </a:rPr>
              <a:t>SpringerOpen</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49520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4F44C90D-2A62-4985-9618-3460247437B1}">
  <ds:schemaRefs>
    <ds:schemaRef ds:uri="http://schemas.microsoft.com/sharepoint/v3/contenttype/forms"/>
  </ds:schemaRefs>
</ds:datastoreItem>
</file>

<file path=customXml/itemProps2.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88A2F88-55C5-4ED1-9541-807C65424763}">
  <ds:schemaRefs>
    <ds:schemaRef ds:uri="http://schemas.microsoft.com/office/2006/documentManagement/types"/>
    <ds:schemaRef ds:uri="http://purl.org/dc/elements/1.1/"/>
    <ds:schemaRef ds:uri="http://www.w3.org/XML/1998/namespace"/>
    <ds:schemaRef ds:uri="http://schemas.microsoft.com/office/infopath/2007/PartnerControls"/>
    <ds:schemaRef ds:uri="http://purl.org/dc/dcmitype/"/>
    <ds:schemaRef ds:uri="71af3243-3dd4-4a8d-8c0d-dd76da1f02a5"/>
    <ds:schemaRef ds:uri="http://schemas.microsoft.com/office/2006/metadata/properties"/>
    <ds:schemaRef ds:uri="http://schemas.openxmlformats.org/package/2006/metadata/core-properties"/>
    <ds:schemaRef ds:uri="16c05727-aa75-4e4a-9b5f-8a80a1165891"/>
    <ds:schemaRef ds:uri="http://purl.org/dc/terms/"/>
  </ds:schemaRefs>
</ds:datastoreItem>
</file>

<file path=docProps/app.xml><?xml version="1.0" encoding="utf-8"?>
<Properties xmlns="http://schemas.openxmlformats.org/officeDocument/2006/extended-properties" xmlns:vt="http://schemas.openxmlformats.org/officeDocument/2006/docPropsVTypes">
  <Template>Integral design</Template>
  <TotalTime>0</TotalTime>
  <Words>3696</Words>
  <Application>Microsoft Office PowerPoint</Application>
  <PresentationFormat>Widescreen</PresentationFormat>
  <Paragraphs>184</Paragraphs>
  <Slides>34</Slides>
  <Notes>6</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34</vt:i4>
      </vt:variant>
    </vt:vector>
  </HeadingPairs>
  <TitlesOfParts>
    <vt:vector size="46" baseType="lpstr">
      <vt:lpstr>SimSun</vt:lpstr>
      <vt:lpstr>Arial</vt:lpstr>
      <vt:lpstr>Bahnschrift</vt:lpstr>
      <vt:lpstr>Calibri</vt:lpstr>
      <vt:lpstr>Calibri Light</vt:lpstr>
      <vt:lpstr>Symbol</vt:lpstr>
      <vt:lpstr>Times New Roman</vt:lpstr>
      <vt:lpstr>Tw Cen MT</vt:lpstr>
      <vt:lpstr>Tw Cen MT Condensed</vt:lpstr>
      <vt:lpstr>Wingdings</vt:lpstr>
      <vt:lpstr>Wingdings 3</vt:lpstr>
      <vt:lpstr>Integral</vt:lpstr>
      <vt:lpstr>PowerPoint Presentation</vt:lpstr>
      <vt:lpstr>TABLE OF CONTENTS</vt:lpstr>
      <vt:lpstr>PROJECT DESCRIPTION </vt:lpstr>
      <vt:lpstr>PROBLEM STATEMENT </vt:lpstr>
      <vt:lpstr>OBJECTIVE OF PROJECT </vt:lpstr>
      <vt:lpstr>SCOPE </vt:lpstr>
      <vt:lpstr>SIGNIFICANCE OF PROJECT </vt:lpstr>
      <vt:lpstr>EXISTING SYSTEM </vt:lpstr>
      <vt:lpstr>Disadvantages of Existing System </vt:lpstr>
      <vt:lpstr>PROPOSED SYSTEM </vt:lpstr>
      <vt:lpstr>Advantages of Proposed System</vt:lpstr>
      <vt:lpstr>PROJECT FLOW </vt:lpstr>
      <vt:lpstr>Resource Requirements </vt:lpstr>
      <vt:lpstr>RESEARCH GAP ANALYSIS </vt:lpstr>
      <vt:lpstr>LITERATURE SURVEY  </vt:lpstr>
      <vt:lpstr>IMPLEMENTATION  </vt:lpstr>
      <vt:lpstr>IMPLEMENTATION  </vt:lpstr>
      <vt:lpstr>PowerPoint Presentation</vt:lpstr>
      <vt:lpstr> </vt:lpstr>
      <vt:lpstr> </vt:lpstr>
      <vt:lpstr> </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2024-07-31T06:09:48Z</dcterms:created>
  <dcterms:modified xsi:type="dcterms:W3CDTF">2025-11-26T13:09:54Z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