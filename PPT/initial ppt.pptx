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25"/>
  </p:notesMasterIdLst>
  <p:sldIdLst>
    <p:sldId id="256" r:id="rId5"/>
    <p:sldId id="277" r:id="rId6"/>
    <p:sldId id="278" r:id="rId7"/>
    <p:sldId id="325" r:id="rId8"/>
    <p:sldId id="326" r:id="rId9"/>
    <p:sldId id="281" r:id="rId10"/>
    <p:sldId id="282" r:id="rId11"/>
    <p:sldId id="341" r:id="rId12"/>
    <p:sldId id="406" r:id="rId13"/>
    <p:sldId id="291" r:id="rId14"/>
    <p:sldId id="407" r:id="rId15"/>
    <p:sldId id="342" r:id="rId16"/>
    <p:sldId id="327" r:id="rId17"/>
    <p:sldId id="365" r:id="rId18"/>
    <p:sldId id="403" r:id="rId19"/>
    <p:sldId id="392" r:id="rId20"/>
    <p:sldId id="393" r:id="rId21"/>
    <p:sldId id="405" r:id="rId22"/>
    <p:sldId id="366" r:id="rId23"/>
    <p:sldId id="39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71" autoAdjust="0"/>
    <p:restoredTop sz="94660"/>
  </p:normalViewPr>
  <p:slideViewPr>
    <p:cSldViewPr snapToGrid="0">
      <p:cViewPr varScale="1">
        <p:scale>
          <a:sx n="107" d="100"/>
          <a:sy n="107" d="100"/>
        </p:scale>
        <p:origin x="666"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11/26/2025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11/26/2025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11/26/2025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11/26/2025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11/26/2025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11/26/2025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11/26/2025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11/26/2025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6000">
              <a:schemeClr val="accent3">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11/26/2025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doi.org/10.3390/electronics13163216" TargetMode="External"/><Relationship Id="rId3" Type="http://schemas.openxmlformats.org/officeDocument/2006/relationships/hyperlink" Target="https://www.mdpi.com/1424-8220/23/14/6459?utm_source=chatgpt.com" TargetMode="External"/><Relationship Id="rId7" Type="http://schemas.openxmlformats.org/officeDocument/2006/relationships/hyperlink" Target="https://www.sciencedirect.com/science/article/abs/pii/S2542660523000288?utm_source=chatgpt.com" TargetMode="External"/><Relationship Id="rId2" Type="http://schemas.openxmlformats.org/officeDocument/2006/relationships/hyperlink" Target="https://doi.org/10.3390/s23146459" TargetMode="External"/><Relationship Id="rId1" Type="http://schemas.openxmlformats.org/officeDocument/2006/relationships/slideLayout" Target="../slideLayouts/slideLayout2.xml"/><Relationship Id="rId6" Type="http://schemas.openxmlformats.org/officeDocument/2006/relationships/hyperlink" Target="https://doi.org/10.1016/j.something.S2542660523000288" TargetMode="External"/><Relationship Id="rId11" Type="http://schemas.openxmlformats.org/officeDocument/2006/relationships/hyperlink" Target="https://www.sciencedirect.com/science/article/abs/pii/S0952197623015920?utm_source=chatgpt.com" TargetMode="External"/><Relationship Id="rId5" Type="http://schemas.openxmlformats.org/officeDocument/2006/relationships/hyperlink" Target="https://www.mdpi.com/1424-8220/23/21/8741?utm_source=chatgpt.com" TargetMode="External"/><Relationship Id="rId10" Type="http://schemas.openxmlformats.org/officeDocument/2006/relationships/hyperlink" Target="https://doi.org/10.1016/j.ins.2023.09.062" TargetMode="External"/><Relationship Id="rId4" Type="http://schemas.openxmlformats.org/officeDocument/2006/relationships/hyperlink" Target="https://doi.org/10.3390/s23218741" TargetMode="External"/><Relationship Id="rId9" Type="http://schemas.openxmlformats.org/officeDocument/2006/relationships/hyperlink" Target="https://www.mdpi.com/2079-9292/13/16/3216?utm_source=chatgpt.com"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arxiv.org/abs/2304.06370" TargetMode="External"/><Relationship Id="rId3" Type="http://schemas.openxmlformats.org/officeDocument/2006/relationships/hyperlink" Target="https://ui.adsabs.harvard.edu/abs/2023SPIE12701E..10K/abstract?utm_source=chatgpt.com" TargetMode="External"/><Relationship Id="rId7" Type="http://schemas.openxmlformats.org/officeDocument/2006/relationships/hyperlink" Target="https://www.nature.com/articles/s41598-025-08475-4?utm_source=chatgpt.com" TargetMode="External"/><Relationship Id="rId2" Type="http://schemas.openxmlformats.org/officeDocument/2006/relationships/hyperlink" Target="https://doi.org/10.1117/12.XXXXX" TargetMode="External"/><Relationship Id="rId1" Type="http://schemas.openxmlformats.org/officeDocument/2006/relationships/slideLayout" Target="../slideLayouts/slideLayout2.xml"/><Relationship Id="rId6" Type="http://schemas.openxmlformats.org/officeDocument/2006/relationships/hyperlink" Target="https://doi.org/10.1038/s41598-025-08475-4" TargetMode="External"/><Relationship Id="rId11" Type="http://schemas.openxmlformats.org/officeDocument/2006/relationships/hyperlink" Target="https://journalofbigdata.springeropen.com/articles/10.1186/s40537-024-00890-0?utm_source=chatgpt.com" TargetMode="External"/><Relationship Id="rId5" Type="http://schemas.openxmlformats.org/officeDocument/2006/relationships/hyperlink" Target="https://www.researchgate.net/publication/386586492_Lightweight_YOLO_for_distracted_driver_detection_on_edge_devices?utm_source=chatgpt.com" TargetMode="External"/><Relationship Id="rId10" Type="http://schemas.openxmlformats.org/officeDocument/2006/relationships/hyperlink" Target="https://doi.org/10.1186/s40537-024-00890-0" TargetMode="External"/><Relationship Id="rId4" Type="http://schemas.openxmlformats.org/officeDocument/2006/relationships/hyperlink" Target="https://doi.org/10.1051/matecconf/202440610001" TargetMode="External"/><Relationship Id="rId9" Type="http://schemas.openxmlformats.org/officeDocument/2006/relationships/hyperlink" Target="https://arxiv.org/abs/2304.06370?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4" name="Picture 3">
            <a:extLst>
              <a:ext uri="{FF2B5EF4-FFF2-40B4-BE49-F238E27FC236}">
                <a16:creationId xmlns:a16="http://schemas.microsoft.com/office/drawing/2014/main" id="{31874E82-61DA-4A95-A467-CC8CB08C1F71}"/>
              </a:ext>
            </a:extLst>
          </p:cNvPr>
          <p:cNvPicPr>
            <a:picLocks noChangeAspect="1"/>
          </p:cNvPicPr>
          <p:nvPr/>
        </p:nvPicPr>
        <p:blipFill>
          <a:blip r:embed="rId2"/>
          <a:stretch>
            <a:fillRect/>
          </a:stretch>
        </p:blipFill>
        <p:spPr>
          <a:xfrm>
            <a:off x="0" y="0"/>
            <a:ext cx="12188726" cy="6858000"/>
          </a:xfrm>
          <a:prstGeom prst="rect">
            <a:avLst/>
          </a:prstGeom>
        </p:spPr>
      </p:pic>
      <p:sp>
        <p:nvSpPr>
          <p:cNvPr id="10" name="Rounded Rectangle 9">
            <a:extLst>
              <a:ext uri="{FF2B5EF4-FFF2-40B4-BE49-F238E27FC236}">
                <a16:creationId xmlns:a16="http://schemas.microsoft.com/office/drawing/2014/main" id="{F7BDC3DA-D9C5-4CE6-B7F8-2F4D84064973}"/>
              </a:ext>
            </a:extLst>
          </p:cNvPr>
          <p:cNvSpPr/>
          <p:nvPr/>
        </p:nvSpPr>
        <p:spPr>
          <a:xfrm>
            <a:off x="2091319" y="175771"/>
            <a:ext cx="8155340" cy="1321335"/>
          </a:xfrm>
          <a:prstGeom prst="round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rgbClr val="002060"/>
                </a:solidFill>
                <a:latin typeface="Bahnschrift" panose="020B0502040204020203" pitchFamily="34" charset="0"/>
              </a:rPr>
              <a:t>Smart Driver Monitoring System with Live Alerts Using Flask YOLOv10</a:t>
            </a:r>
            <a:endParaRPr lang="en-IN" sz="3000" b="1" dirty="0">
              <a:ln w="22225">
                <a:solidFill>
                  <a:schemeClr val="accent2"/>
                </a:solidFill>
                <a:prstDash val="solid"/>
              </a:ln>
              <a:solidFill>
                <a:srgbClr val="002060"/>
              </a:solidFill>
              <a:effectLst>
                <a:glow rad="228600">
                  <a:schemeClr val="accent1">
                    <a:satMod val="175000"/>
                    <a:alpha val="40000"/>
                  </a:schemeClr>
                </a:glow>
              </a:effectLst>
              <a:latin typeface="Bahnschrift"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88997" y="966651"/>
            <a:ext cx="9720072" cy="770709"/>
          </a:xfrm>
        </p:spPr>
        <p:txBody>
          <a:bodyPr>
            <a:normAutofit/>
          </a:bodyPr>
          <a:lstStyle/>
          <a:p>
            <a:r>
              <a:rPr lang="en-US" sz="2000" b="1" dirty="0">
                <a:solidFill>
                  <a:schemeClr val="tx2">
                    <a:lumMod val="50000"/>
                  </a:schemeClr>
                </a:solidFill>
                <a:latin typeface="Times New Roman" panose="02020603050405020304" pitchFamily="18" charset="0"/>
                <a:cs typeface="Times New Roman" panose="02020603050405020304" pitchFamily="18" charset="0"/>
              </a:rPr>
              <a:t>TABLE OF CONTENTS</a:t>
            </a:r>
          </a:p>
        </p:txBody>
      </p:sp>
      <p:sp>
        <p:nvSpPr>
          <p:cNvPr id="6" name="TextBox 5"/>
          <p:cNvSpPr txBox="1"/>
          <p:nvPr/>
        </p:nvSpPr>
        <p:spPr>
          <a:xfrm>
            <a:off x="788997" y="2031269"/>
            <a:ext cx="7130143" cy="465973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Existing System</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endParaRPr lang="en-US" sz="14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400" b="1" dirty="0">
              <a:latin typeface="Times New Roman" panose="02020603050405020304" pitchFamily="18" charset="0"/>
              <a:cs typeface="Times New Roman" panose="02020603050405020304" pitchFamily="18" charset="0"/>
            </a:endParaRPr>
          </a:p>
          <a:p>
            <a:pPr lvl="2" algn="ctr">
              <a:lnSpc>
                <a:spcPct val="170000"/>
              </a:lnSpc>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425260" y="2031270"/>
            <a:ext cx="5807746" cy="202497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Implementation</a:t>
            </a:r>
          </a:p>
          <a:p>
            <a:pPr marL="342900" lvl="1"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Model Implementation</a:t>
            </a:r>
          </a:p>
          <a:p>
            <a:pPr algn="just">
              <a:lnSpc>
                <a:spcPct val="150000"/>
              </a:lnSpc>
            </a:pPr>
            <a:r>
              <a:rPr lang="en-US" sz="1400" b="1"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400" b="1" dirty="0">
                <a:latin typeface="Times New Roman" panose="02020603050405020304" pitchFamily="18" charset="0"/>
                <a:cs typeface="Times New Roman" panose="02020603050405020304" pitchFamily="18" charset="0"/>
              </a:rPr>
              <a:t>	2. working Process</a:t>
            </a:r>
          </a:p>
          <a:p>
            <a:pPr algn="just">
              <a:lnSpc>
                <a:spcPct val="150000"/>
              </a:lnSpc>
            </a:pPr>
            <a:r>
              <a:rPr lang="en-US" sz="1400" b="1" dirty="0">
                <a:latin typeface="Times New Roman" panose="02020603050405020304" pitchFamily="18" charset="0"/>
                <a:cs typeface="Times New Roman" panose="02020603050405020304" pitchFamily="18" charset="0"/>
              </a:rPr>
              <a:t>✓	 References</a:t>
            </a:r>
          </a:p>
          <a:p>
            <a:pPr lvl="2">
              <a:lnSpc>
                <a:spcPct val="170000"/>
              </a:lnSpc>
            </a:pP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1741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3538293" y="339636"/>
            <a:ext cx="4671278" cy="666205"/>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PROJECT DESCRIPTION</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814251" y="1005841"/>
            <a:ext cx="10955384" cy="461305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presents a Smart Driver Monitoring System built using Flask and YOLOv10 to detect unsafe driver behaviors through live camera input. The system identifies multiple driver states, including distracted, drowsy, drinking, eating, phone use, safe driving, seatbelt, and smoking. The detection workflow is supported by a custom dataset and a trained YOLOv10 model that processes video frames in a browser interface. When unsafe behavior such as drowsiness or distraction is identified, the system sends a notification email to the administrator for immediate attention. The platform includes user modules such as Home, Register, Login, Detection, and Logout, providing a complete and structured interface for users. The combination of Flask on the backend and HTML, CSS, and JavaScript on the frontend ensures seamless communication between the detection model and the user interface. This system aims to assist in monitoring driver conditions and promoting safer driving practices through automated identification and alerting. Its simple design and efficient processing make it suitable for projects focused on driver behavior analysis, safety systems, and computer-vision-based monitoring frameworks.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404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53884" y="274320"/>
            <a:ext cx="9616441" cy="1214846"/>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PROBLEM STATEMENT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931815" y="1489166"/>
            <a:ext cx="10811693"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Driver behavior errors often lead to unsafe conditions, and identifying such behaviors manually is challenging. Without automated monitoring, unsafe actions such as drowsiness, distraction, phone use, or ignoring safety practices may go unnoticed. Traditional methods lack adaptability and do not provide continuous observation. There is a need for a system that can classify driver actions accurately and respond instantly when an unsafe pattern is detected. The main problem this project addresses is the absence of a unified platform that combines behavior detection, live monitoring, and automated alerts. Additionally, there is a gap in integrating an easy-to-use interface with a strong detection model. Therefore, this project aims to build a system that identifies unsafe driver behaviors through camera-based analysis and sends notification alerts to the administrator to support timely intervention.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511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49381" y="-3266"/>
            <a:ext cx="9616441" cy="1642654"/>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OBJECTIVE OF PROJECT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920289" y="1383190"/>
            <a:ext cx="10811693" cy="3782061"/>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primary objective of this project is to build an efficient monitoring system that can classify different driver behaviors using YOLOv10. Another objective is to integrate this model with a Flask framework to achieve smooth interaction between backend processing and the user interface. The project aims to develop a complete workflow in which users can register, log in, and start live detection through a browser. A key objective is to ensure accurate identification of unsafe behaviors, especially drowsiness and distraction, which trigger automatic email notifications to the administrator. Additional goals include presenting detection results clearly, maintaining stable live video processing, and ensuring responsive system behavior. The project also aims to provide a simple, modular structure that can be extended for future work. By combining deep learning, web technology, and automated alerts, the system aims to support research in behavior recognition and safety monitoring.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1788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9" y="411482"/>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SCOPE</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024129" y="1414056"/>
            <a:ext cx="10784695" cy="461305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scope of this project covers the development of an automated driver monitoring system using Flask and YOLOv10. It focuses on detecting a defined set of driver behaviors: distracted, drowsy, drinking, eating, phone use, safe driving, seatbelt, and smoking. The system operates through a live camera feed, making it suitable for continuous monitoring settings. The scope includes creating modules such as Home, Register, Login, Detection, and Logout for managing users and providing an organized interface. The backend handles model integration, frame processing, and email notifications, while the frontend presents the detection results clearly. The project also involves training or adapting a YOLOv10 model using a labeled dataset from the specified source. The alert mechanism covers unsafe conditions like drowsiness and distraction, ensuring the administrator is informed immediately. Although the system identifies multiple behaviors, its scope is limited to classification and alerting; it does not provide corrective actions or vehicle control. The project is designed for research, experimentation, and demonstration of behavior monitoring using computer vision and deep learning.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3996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41693" y="490253"/>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SIGNIFICANCE OF PROJECT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6" name="Rectangle 5"/>
          <p:cNvSpPr/>
          <p:nvPr/>
        </p:nvSpPr>
        <p:spPr>
          <a:xfrm>
            <a:off x="840480" y="1431931"/>
            <a:ext cx="10993699" cy="3782061"/>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motivation behind developing this system comes from the need to track driver behavior using automated methods. Manual observation or traditional monitoring approaches are often limited, so there is a need for a structured system that can identify unsafe actions without depending on human supervision. Using computer vision techniques and deep learning models enables continuous behavior analysis in a more efficient manner. The intention is to create a system that can recognize specific actions such as drowsiness and distraction and then notify the administrator instantly, helping in early corrective measures. This project also offers a practical way to explore modern detection frameworks, dataset usage, model training, and alert automation. Overall, the motivation is to design a simple, effective, and accessible solution that supports driver safety and contributes to research in automated monitoring technologies.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6394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15014" y="419047"/>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EXISTING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A65B8F0-0014-4446-BBA4-489B3A48AEC4}"/>
              </a:ext>
            </a:extLst>
          </p:cNvPr>
          <p:cNvSpPr/>
          <p:nvPr/>
        </p:nvSpPr>
        <p:spPr>
          <a:xfrm>
            <a:off x="995696" y="1452203"/>
            <a:ext cx="10555327" cy="4197559"/>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Traditional driver monitoring systems mainly rely on classic computer-vision techniques and simple machine-learning algorithms. These systems often use methods such as </a:t>
            </a:r>
            <a:r>
              <a:rPr lang="en-US" dirty="0" err="1">
                <a:latin typeface="Times New Roman" panose="02020603050405020304" pitchFamily="18" charset="0"/>
                <a:cs typeface="Times New Roman" panose="02020603050405020304" pitchFamily="18" charset="0"/>
              </a:rPr>
              <a:t>Haar</a:t>
            </a:r>
            <a:r>
              <a:rPr lang="en-US" dirty="0">
                <a:latin typeface="Times New Roman" panose="02020603050405020304" pitchFamily="18" charset="0"/>
                <a:cs typeface="Times New Roman" panose="02020603050405020304" pitchFamily="18" charset="0"/>
              </a:rPr>
              <a:t> cascade classifiers for face and eye detection, HOG (Histogram of Oriented Gradients) for feature extraction, and SVM (Support Vector Machine) classifiers for behavior identification. Some systems track eye closure or head movement using threshold-based rules instead of learning from large datasets. These older approaches work by extracting handcrafted features from the video frames and then applying basic classifiers to determine whether the driver is attentive or not. While such systems can detect limited patterns like closed eyes or head tilting, they struggle to understand complex behaviors such as phone use, drinking, or multitasking. They also rely heavily on fixed lighting, stable face positions, and controlled environments. Because of these limitations, traditional systems cannot achieve high accuracy when dealing with multiple driver behaviors or varying camera conditions.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222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76379" y="320435"/>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Disadvantages of Existing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A65B8F0-0014-4446-BBA4-489B3A48AEC4}"/>
              </a:ext>
            </a:extLst>
          </p:cNvPr>
          <p:cNvSpPr/>
          <p:nvPr/>
        </p:nvSpPr>
        <p:spPr>
          <a:xfrm>
            <a:off x="818336" y="1335662"/>
            <a:ext cx="10555327"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Can detect only a few basic actions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Struggle with poor lighting or unusual face angles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Cannot handle multiple behaviors at the same time</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Low accuracy due to handcrafted features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Not suitable for live monitoring with fast movements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Hard to adapt to different drivers or environments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Slow processing and limited automation</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No advanced alerting or smart decision-making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0640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63701" y="309860"/>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PROPOSED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B02D910-1F55-4ADA-B897-C4A48D483254}"/>
              </a:ext>
            </a:extLst>
          </p:cNvPr>
          <p:cNvSpPr/>
          <p:nvPr/>
        </p:nvSpPr>
        <p:spPr>
          <a:xfrm>
            <a:off x="838200" y="1004570"/>
            <a:ext cx="11080376" cy="5033686"/>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system introduces an advanced Smart Driver Monitoring System built using Flask and a YOLOv10 detection model. Unlike older methods that depend on handcrafted features, this system uses deep learning to identify multiple driver behaviors directly from live camera input. The YOLOv10 model analyzes each frame in real time and classifies actions such as distracted driving, drowsiness, drinking, eating, phone use, seatbelt status, smoking, and safe driving. The system is integrated into a web interface that includes modules such as Home, Register, Login, Detection, and Logout. After users log in, the live detection page streams video frames to the backend, where the model processes them and returns the prediction results.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 key feature of the system is its alert mechanism. When the model detects unsafe behavior—especially drowsiness or distraction—it automatically sends a notification email to the administrator. This creates a simple but effective safety layer. The system is designed to run smoothly on a web platform, making it easy to operate while providing reliable detection accuracy. The proposed system supports research, improves interaction, and offers a more complete driver behavior analysis setup.</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0470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50254" y="94707"/>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Advantages of Proposed System</a:t>
            </a:r>
          </a:p>
        </p:txBody>
      </p:sp>
      <p:sp>
        <p:nvSpPr>
          <p:cNvPr id="3" name="Rectangle 2">
            <a:extLst>
              <a:ext uri="{FF2B5EF4-FFF2-40B4-BE49-F238E27FC236}">
                <a16:creationId xmlns:a16="http://schemas.microsoft.com/office/drawing/2014/main" id="{7B02D910-1F55-4ADA-B897-C4A48D483254}"/>
              </a:ext>
            </a:extLst>
          </p:cNvPr>
          <p:cNvSpPr/>
          <p:nvPr/>
        </p:nvSpPr>
        <p:spPr>
          <a:xfrm>
            <a:off x="1125069" y="1623135"/>
            <a:ext cx="10703859"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Detects many driver behaviors accurately</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Works with live camera feed</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Learns features automatically through deep learning</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More reliable even in changing conditions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Sends instant alerts for unsafe behavior</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Easy to use through a simple web interface</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Supports secure login and user management</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Flexible design that can be extended in future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7374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75932" y="68069"/>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PROJECT FLOW</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0E54F19-E681-4BE3-8244-4F3DCC75DDD4}"/>
              </a:ext>
            </a:extLst>
          </p:cNvPr>
          <p:cNvPicPr/>
          <p:nvPr/>
        </p:nvPicPr>
        <p:blipFill>
          <a:blip r:embed="rId2"/>
          <a:stretch>
            <a:fillRect/>
          </a:stretch>
        </p:blipFill>
        <p:spPr>
          <a:xfrm>
            <a:off x="4325599" y="613977"/>
            <a:ext cx="2817963" cy="61759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37419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760912"/>
            <a:ext cx="9720072" cy="770709"/>
          </a:xfrm>
        </p:spPr>
        <p:txBody>
          <a:bodyPr>
            <a:normAutofit fontScale="90000"/>
          </a:bodyPr>
          <a:lstStyle/>
          <a:p>
            <a:pPr lvl="2">
              <a:lnSpc>
                <a:spcPct val="170000"/>
              </a:lnSpc>
            </a:pPr>
            <a:r>
              <a:rPr lang="en-US" sz="3000" u="sng" dirty="0">
                <a:latin typeface="Times New Roman" panose="02020603050405020304" pitchFamily="18" charset="0"/>
                <a:cs typeface="Times New Roman" panose="02020603050405020304" pitchFamily="18" charset="0"/>
              </a:rPr>
              <a:t>Resource Requirements</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396240" y="2256417"/>
            <a:ext cx="6096000" cy="1704569"/>
          </a:xfrm>
          <a:prstGeom prst="rect">
            <a:avLst/>
          </a:prstGeom>
        </p:spPr>
        <p:txBody>
          <a:bodyPr>
            <a:spAutoFit/>
          </a:bodyPr>
          <a:lstStyle/>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Operating System		:  Windows 7/8/10</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Programming Language	:  Python</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Libraries			:  Pandas, </a:t>
            </a:r>
            <a:r>
              <a:rPr lang="en-US" dirty="0" err="1">
                <a:solidFill>
                  <a:srgbClr val="000000"/>
                </a:solidFill>
                <a:latin typeface="Times New Roman" panose="02020603050405020304" pitchFamily="18" charset="0"/>
                <a:ea typeface="Times New Roman" panose="02020603050405020304" pitchFamily="18" charset="0"/>
              </a:rPr>
              <a:t>Numpy</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Times New Roman" panose="02020603050405020304" pitchFamily="18" charset="0"/>
                <a:ea typeface="Times New Roman" panose="02020603050405020304" pitchFamily="18" charset="0"/>
              </a:rPr>
              <a:t>scikit</a:t>
            </a:r>
            <a:r>
              <a:rPr lang="en-US" dirty="0">
                <a:solidFill>
                  <a:srgbClr val="000000"/>
                </a:solidFill>
                <a:latin typeface="Times New Roman" panose="02020603050405020304" pitchFamily="18" charset="0"/>
                <a:ea typeface="Times New Roman" panose="02020603050405020304" pitchFamily="18" charset="0"/>
              </a:rPr>
              <a:t>-learn.</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IDE/Workbench		:  Visual Studio Code.</a:t>
            </a:r>
          </a:p>
        </p:txBody>
      </p:sp>
      <p:sp>
        <p:nvSpPr>
          <p:cNvPr id="5" name="Rectangle 4"/>
          <p:cNvSpPr/>
          <p:nvPr/>
        </p:nvSpPr>
        <p:spPr>
          <a:xfrm>
            <a:off x="6379029" y="1531621"/>
            <a:ext cx="5812971" cy="3154710"/>
          </a:xfrm>
          <a:prstGeom prst="rect">
            <a:avLst/>
          </a:prstGeom>
        </p:spPr>
        <p:txBody>
          <a:bodyPr wrap="square">
            <a:spAutoFit/>
          </a:bodyPr>
          <a:lstStyle/>
          <a:p>
            <a:pPr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H/W CONFIGURATION:</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Processor			- I3/Intel Processor</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Hard Disk			- 160GB</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Monitor			        - SVGA</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RAM				- 8GB</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653039" y="1531621"/>
            <a:ext cx="2734595" cy="507831"/>
          </a:xfrm>
          <a:prstGeom prst="rect">
            <a:avLst/>
          </a:prstGeom>
        </p:spPr>
        <p:txBody>
          <a:bodyPr wrap="none">
            <a:spAutoFit/>
          </a:bodyPr>
          <a:lstStyle/>
          <a:p>
            <a:pPr algn="just">
              <a:lnSpc>
                <a:spcPct val="150000"/>
              </a:lnSpc>
              <a:spcBef>
                <a:spcPts val="1200"/>
              </a:spcBef>
              <a:spcAft>
                <a:spcPts val="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S/W CONFIGURATION:</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028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49208" y="359806"/>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RESEARCH GAP ANALYSIS</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837816" y="920925"/>
            <a:ext cx="11025051" cy="5218736"/>
          </a:xfrm>
          <a:prstGeom prst="rect">
            <a:avLst/>
          </a:prstGeom>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Despite significant advancements in driver monitoring systems, several gaps still exist in current research and real-world applications. Many existing solutions focus on detecting only specific behaviors such as drowsiness or phone usage, lacking the ability to classify multiple unsafe actions simultaneously. Traditional systems often rely on older or less efficient models that struggle with real-time performance, limiting their use in continuous monitoring environments. Additionally, many studies emphasize offline image-based detection rather than live video processing, reducing their effectiveness in real driving scenarios.</a:t>
            </a:r>
          </a:p>
          <a:p>
            <a:pPr algn="just">
              <a:lnSpc>
                <a:spcPct val="150000"/>
              </a:lnSpc>
            </a:pPr>
            <a:r>
              <a:rPr lang="en-US" sz="1600" dirty="0">
                <a:latin typeface="Times New Roman" panose="02020603050405020304" pitchFamily="18" charset="0"/>
                <a:cs typeface="Times New Roman" panose="02020603050405020304" pitchFamily="18" charset="0"/>
              </a:rPr>
              <a:t>Another major gap is the lack of fully integrated platforms that combine detection, user management, and automated alerting. While research works present strong computer-vision techniques, they rarely include end-to-end systems with user interfaces, login modules, and live streaming </a:t>
            </a:r>
            <a:r>
              <a:rPr lang="en-US" sz="1600" dirty="0" err="1">
                <a:latin typeface="Times New Roman" panose="02020603050405020304" pitchFamily="18" charset="0"/>
                <a:cs typeface="Times New Roman" panose="02020603050405020304" pitchFamily="18" charset="0"/>
              </a:rPr>
              <a:t>features.Accurate</a:t>
            </a:r>
            <a:r>
              <a:rPr lang="en-US" sz="1600" dirty="0">
                <a:latin typeface="Times New Roman" panose="02020603050405020304" pitchFamily="18" charset="0"/>
                <a:cs typeface="Times New Roman" panose="02020603050405020304" pitchFamily="18" charset="0"/>
              </a:rPr>
              <a:t> alert mechanisms, such as email notifications for unsafe behaviors, are also missing in many existing approaches. Moreover, several models require high computational power, making deployment difficult for lightweight or practical applications.</a:t>
            </a:r>
          </a:p>
          <a:p>
            <a:pPr algn="just">
              <a:lnSpc>
                <a:spcPct val="150000"/>
              </a:lnSpc>
            </a:pPr>
            <a:r>
              <a:rPr lang="en-US" sz="1600" dirty="0">
                <a:latin typeface="Times New Roman" panose="02020603050405020304" pitchFamily="18" charset="0"/>
                <a:cs typeface="Times New Roman" panose="02020603050405020304" pitchFamily="18" charset="0"/>
              </a:rPr>
              <a:t>This project addresses these gaps by integrating a YOLOv10-based multi-class behavior detection model with a Flask web framework to deliver real-time, browser-based monitoring. It also incorporates automated email alerts for critical behaviors like drowsiness and distraction, filling the gap between research prototypes and functional, user-accessible systems. Overall, the system provides a complete, efficient, and practical solution for modern driver behavior monitoring.</a:t>
            </a:r>
          </a:p>
        </p:txBody>
      </p:sp>
    </p:spTree>
    <p:extLst>
      <p:ext uri="{BB962C8B-B14F-4D97-AF65-F5344CB8AC3E}">
        <p14:creationId xmlns:p14="http://schemas.microsoft.com/office/powerpoint/2010/main" val="530627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41692" y="669472"/>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LITERATURE SURVEY</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73C7299-A627-48C4-A5EF-1D8AE37B2A06}"/>
              </a:ext>
            </a:extLst>
          </p:cNvPr>
          <p:cNvGraphicFramePr>
            <a:graphicFrameLocks noGrp="1"/>
          </p:cNvGraphicFramePr>
          <p:nvPr>
            <p:extLst>
              <p:ext uri="{D42A27DB-BD31-4B8C-83A1-F6EECF244321}">
                <p14:modId xmlns:p14="http://schemas.microsoft.com/office/powerpoint/2010/main" val="2143886585"/>
              </p:ext>
            </p:extLst>
          </p:nvPr>
        </p:nvGraphicFramePr>
        <p:xfrm>
          <a:off x="1016186" y="942640"/>
          <a:ext cx="10333132" cy="5714036"/>
        </p:xfrm>
        <a:graphic>
          <a:graphicData uri="http://schemas.openxmlformats.org/drawingml/2006/table">
            <a:tbl>
              <a:tblPr>
                <a:tableStyleId>{ED083AE6-46FA-4A59-8FB0-9F97EB10719F}</a:tableStyleId>
              </a:tblPr>
              <a:tblGrid>
                <a:gridCol w="2583283">
                  <a:extLst>
                    <a:ext uri="{9D8B030D-6E8A-4147-A177-3AD203B41FA5}">
                      <a16:colId xmlns:a16="http://schemas.microsoft.com/office/drawing/2014/main" val="3347360664"/>
                    </a:ext>
                  </a:extLst>
                </a:gridCol>
                <a:gridCol w="2583283">
                  <a:extLst>
                    <a:ext uri="{9D8B030D-6E8A-4147-A177-3AD203B41FA5}">
                      <a16:colId xmlns:a16="http://schemas.microsoft.com/office/drawing/2014/main" val="1005915733"/>
                    </a:ext>
                  </a:extLst>
                </a:gridCol>
                <a:gridCol w="2583283">
                  <a:extLst>
                    <a:ext uri="{9D8B030D-6E8A-4147-A177-3AD203B41FA5}">
                      <a16:colId xmlns:a16="http://schemas.microsoft.com/office/drawing/2014/main" val="2474047265"/>
                    </a:ext>
                  </a:extLst>
                </a:gridCol>
                <a:gridCol w="2583283">
                  <a:extLst>
                    <a:ext uri="{9D8B030D-6E8A-4147-A177-3AD203B41FA5}">
                      <a16:colId xmlns:a16="http://schemas.microsoft.com/office/drawing/2014/main" val="1103063185"/>
                    </a:ext>
                  </a:extLst>
                </a:gridCol>
              </a:tblGrid>
              <a:tr h="352278">
                <a:tc>
                  <a:txBody>
                    <a:bodyPr/>
                    <a:lstStyle/>
                    <a:p>
                      <a:r>
                        <a:rPr lang="en-IN" sz="1600" b="1">
                          <a:latin typeface="Times New Roman" panose="02020603050405020304" pitchFamily="18" charset="0"/>
                          <a:cs typeface="Times New Roman" panose="02020603050405020304" pitchFamily="18" charset="0"/>
                        </a:rPr>
                        <a:t>Year</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b="1">
                          <a:latin typeface="Times New Roman" panose="02020603050405020304" pitchFamily="18" charset="0"/>
                          <a:cs typeface="Times New Roman" panose="02020603050405020304" pitchFamily="18" charset="0"/>
                        </a:rPr>
                        <a:t>Author(s)</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b="1">
                          <a:latin typeface="Times New Roman" panose="02020603050405020304" pitchFamily="18" charset="0"/>
                          <a:cs typeface="Times New Roman" panose="02020603050405020304" pitchFamily="18" charset="0"/>
                        </a:rPr>
                        <a:t>Title</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b="1">
                          <a:latin typeface="Times New Roman" panose="02020603050405020304" pitchFamily="18" charset="0"/>
                          <a:cs typeface="Times New Roman" panose="02020603050405020304" pitchFamily="18" charset="0"/>
                        </a:rPr>
                        <a:t>Outcome</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99300635"/>
                  </a:ext>
                </a:extLst>
              </a:tr>
              <a:tr h="1429838">
                <a:tc>
                  <a:txBody>
                    <a:bodyPr/>
                    <a:lstStyle/>
                    <a:p>
                      <a:r>
                        <a:rPr lang="en-IN" sz="1600" b="1">
                          <a:latin typeface="Times New Roman" panose="02020603050405020304" pitchFamily="18" charset="0"/>
                          <a:cs typeface="Times New Roman" panose="02020603050405020304" pitchFamily="18" charset="0"/>
                        </a:rPr>
                        <a:t>2023</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a:latin typeface="Times New Roman" panose="02020603050405020304" pitchFamily="18" charset="0"/>
                          <a:cs typeface="Times New Roman" panose="02020603050405020304" pitchFamily="18" charset="0"/>
                        </a:rPr>
                        <a:t>Safarov, F., Akhmedov, F., Abdusalomov, A. B., Nasimov, R., &amp; Cho, Y. I.</a:t>
                      </a:r>
                    </a:p>
                  </a:txBody>
                  <a:tcPr anchor="ctr"/>
                </a:tc>
                <a:tc>
                  <a:txBody>
                    <a:bodyPr/>
                    <a:lstStyle/>
                    <a:p>
                      <a:r>
                        <a:rPr lang="en-US" sz="1600" i="1">
                          <a:latin typeface="Times New Roman" panose="02020603050405020304" pitchFamily="18" charset="0"/>
                          <a:cs typeface="Times New Roman" panose="02020603050405020304" pitchFamily="18" charset="0"/>
                        </a:rPr>
                        <a:t>Real-Time Deep Learning-Based Drowsiness Detection</a:t>
                      </a:r>
                      <a:endParaRPr lang="en-US" sz="1600">
                        <a:latin typeface="Times New Roman" panose="02020603050405020304" pitchFamily="18" charset="0"/>
                        <a:cs typeface="Times New Roman" panose="02020603050405020304" pitchFamily="18" charset="0"/>
                      </a:endParaRPr>
                    </a:p>
                  </a:txBody>
                  <a:tcPr anchor="ctr"/>
                </a:tc>
                <a:tc>
                  <a:txBody>
                    <a:bodyPr/>
                    <a:lstStyle/>
                    <a:p>
                      <a:r>
                        <a:rPr lang="en-US" sz="1600">
                          <a:latin typeface="Times New Roman" panose="02020603050405020304" pitchFamily="18" charset="0"/>
                          <a:cs typeface="Times New Roman" panose="02020603050405020304" pitchFamily="18" charset="0"/>
                        </a:rPr>
                        <a:t>Developed a deep-learning system using eye-blink analysis to improve real-time drowsiness detection accuracy and road safety.</a:t>
                      </a:r>
                    </a:p>
                  </a:txBody>
                  <a:tcPr anchor="ctr"/>
                </a:tc>
                <a:extLst>
                  <a:ext uri="{0D108BD9-81ED-4DB2-BD59-A6C34878D82A}">
                    <a16:rowId xmlns:a16="http://schemas.microsoft.com/office/drawing/2014/main" val="2187870571"/>
                  </a:ext>
                </a:extLst>
              </a:tr>
              <a:tr h="1207419">
                <a:tc>
                  <a:txBody>
                    <a:bodyPr/>
                    <a:lstStyle/>
                    <a:p>
                      <a:r>
                        <a:rPr lang="en-IN" sz="1600" b="1">
                          <a:latin typeface="Times New Roman" panose="02020603050405020304" pitchFamily="18" charset="0"/>
                          <a:cs typeface="Times New Roman" panose="02020603050405020304" pitchFamily="18" charset="0"/>
                        </a:rPr>
                        <a:t>2024</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a:latin typeface="Times New Roman" panose="02020603050405020304" pitchFamily="18" charset="0"/>
                          <a:cs typeface="Times New Roman" panose="02020603050405020304" pitchFamily="18" charset="0"/>
                        </a:rPr>
                        <a:t>Shen, Q., et al.</a:t>
                      </a:r>
                    </a:p>
                  </a:txBody>
                  <a:tcPr anchor="ctr"/>
                </a:tc>
                <a:tc>
                  <a:txBody>
                    <a:bodyPr/>
                    <a:lstStyle/>
                    <a:p>
                      <a:r>
                        <a:rPr lang="en-US" sz="1600" i="1">
                          <a:latin typeface="Times New Roman" panose="02020603050405020304" pitchFamily="18" charset="0"/>
                          <a:cs typeface="Times New Roman" panose="02020603050405020304" pitchFamily="18" charset="0"/>
                        </a:rPr>
                        <a:t>Distracted Driving Behavior Detection Algorithm Based on StarDL-YOLO</a:t>
                      </a:r>
                      <a:endParaRPr lang="en-US" sz="1600">
                        <a:latin typeface="Times New Roman" panose="02020603050405020304" pitchFamily="18" charset="0"/>
                        <a:cs typeface="Times New Roman" panose="02020603050405020304" pitchFamily="18" charset="0"/>
                      </a:endParaRPr>
                    </a:p>
                  </a:txBody>
                  <a:tcPr anchor="ctr"/>
                </a:tc>
                <a:tc>
                  <a:txBody>
                    <a:bodyPr/>
                    <a:lstStyle/>
                    <a:p>
                      <a:r>
                        <a:rPr lang="en-US" sz="1600">
                          <a:latin typeface="Times New Roman" panose="02020603050405020304" pitchFamily="18" charset="0"/>
                          <a:cs typeface="Times New Roman" panose="02020603050405020304" pitchFamily="18" charset="0"/>
                        </a:rPr>
                        <a:t>Proposed an improved YOLO-based algorithm that enhances detection of distracted driving behaviors with higher precision.</a:t>
                      </a:r>
                    </a:p>
                  </a:txBody>
                  <a:tcPr anchor="ctr"/>
                </a:tc>
                <a:extLst>
                  <a:ext uri="{0D108BD9-81ED-4DB2-BD59-A6C34878D82A}">
                    <a16:rowId xmlns:a16="http://schemas.microsoft.com/office/drawing/2014/main" val="589295387"/>
                  </a:ext>
                </a:extLst>
              </a:tr>
              <a:tr h="1207419">
                <a:tc>
                  <a:txBody>
                    <a:bodyPr/>
                    <a:lstStyle/>
                    <a:p>
                      <a:r>
                        <a:rPr lang="en-IN" sz="1600" b="1">
                          <a:latin typeface="Times New Roman" panose="02020603050405020304" pitchFamily="18" charset="0"/>
                          <a:cs typeface="Times New Roman" panose="02020603050405020304" pitchFamily="18" charset="0"/>
                        </a:rPr>
                        <a:t>2023</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a:latin typeface="Times New Roman" panose="02020603050405020304" pitchFamily="18" charset="0"/>
                          <a:cs typeface="Times New Roman" panose="02020603050405020304" pitchFamily="18" charset="0"/>
                        </a:rPr>
                        <a:t>A. C. Phan, …</a:t>
                      </a:r>
                    </a:p>
                  </a:txBody>
                  <a:tcPr anchor="ctr"/>
                </a:tc>
                <a:tc>
                  <a:txBody>
                    <a:bodyPr/>
                    <a:lstStyle/>
                    <a:p>
                      <a:r>
                        <a:rPr lang="en-US" sz="1600" i="1">
                          <a:latin typeface="Times New Roman" panose="02020603050405020304" pitchFamily="18" charset="0"/>
                          <a:cs typeface="Times New Roman" panose="02020603050405020304" pitchFamily="18" charset="0"/>
                        </a:rPr>
                        <a:t>Driver drowsiness detection and smart alerting using deep learning and IoT</a:t>
                      </a:r>
                      <a:endParaRPr lang="en-US" sz="1600">
                        <a:latin typeface="Times New Roman" panose="02020603050405020304" pitchFamily="18" charset="0"/>
                        <a:cs typeface="Times New Roman" panose="02020603050405020304" pitchFamily="18" charset="0"/>
                      </a:endParaRPr>
                    </a:p>
                  </a:txBody>
                  <a:tcPr anchor="ctr"/>
                </a:tc>
                <a:tc>
                  <a:txBody>
                    <a:bodyPr/>
                    <a:lstStyle/>
                    <a:p>
                      <a:r>
                        <a:rPr lang="en-US" sz="1600">
                          <a:latin typeface="Times New Roman" panose="02020603050405020304" pitchFamily="18" charset="0"/>
                          <a:cs typeface="Times New Roman" panose="02020603050405020304" pitchFamily="18" charset="0"/>
                        </a:rPr>
                        <a:t>Introduced a deep-learning and IoT-based alert system to identify drowsiness and send automated warnings for increased driver safety.</a:t>
                      </a:r>
                    </a:p>
                  </a:txBody>
                  <a:tcPr anchor="ctr"/>
                </a:tc>
                <a:extLst>
                  <a:ext uri="{0D108BD9-81ED-4DB2-BD59-A6C34878D82A}">
                    <a16:rowId xmlns:a16="http://schemas.microsoft.com/office/drawing/2014/main" val="1947548602"/>
                  </a:ext>
                </a:extLst>
              </a:tr>
              <a:tr h="1207419">
                <a:tc>
                  <a:txBody>
                    <a:bodyPr/>
                    <a:lstStyle/>
                    <a:p>
                      <a:r>
                        <a:rPr lang="en-IN" sz="1600" b="1">
                          <a:latin typeface="Times New Roman" panose="02020603050405020304" pitchFamily="18" charset="0"/>
                          <a:cs typeface="Times New Roman" panose="02020603050405020304" pitchFamily="18" charset="0"/>
                        </a:rPr>
                        <a:t>2024</a:t>
                      </a:r>
                      <a:endParaRPr lang="en-IN" sz="1600">
                        <a:latin typeface="Times New Roman" panose="02020603050405020304" pitchFamily="18" charset="0"/>
                        <a:cs typeface="Times New Roman" panose="02020603050405020304" pitchFamily="18" charset="0"/>
                      </a:endParaRPr>
                    </a:p>
                  </a:txBody>
                  <a:tcPr anchor="ctr"/>
                </a:tc>
                <a:tc>
                  <a:txBody>
                    <a:bodyPr/>
                    <a:lstStyle/>
                    <a:p>
                      <a:r>
                        <a:rPr lang="en-IN" sz="1600">
                          <a:latin typeface="Times New Roman" panose="02020603050405020304" pitchFamily="18" charset="0"/>
                          <a:cs typeface="Times New Roman" panose="02020603050405020304" pitchFamily="18" charset="0"/>
                        </a:rPr>
                        <a:t>Gao, H., …</a:t>
                      </a:r>
                    </a:p>
                  </a:txBody>
                  <a:tcPr anchor="ctr"/>
                </a:tc>
                <a:tc>
                  <a:txBody>
                    <a:bodyPr/>
                    <a:lstStyle/>
                    <a:p>
                      <a:r>
                        <a:rPr lang="en-US" sz="1600" i="1">
                          <a:latin typeface="Times New Roman" panose="02020603050405020304" pitchFamily="18" charset="0"/>
                          <a:cs typeface="Times New Roman" panose="02020603050405020304" pitchFamily="18" charset="0"/>
                        </a:rPr>
                        <a:t>Improving real-time driver distraction detection via constrained attention mechanism</a:t>
                      </a:r>
                      <a:endParaRPr lang="en-US" sz="1600">
                        <a:latin typeface="Times New Roman" panose="02020603050405020304" pitchFamily="18" charset="0"/>
                        <a:cs typeface="Times New Roman" panose="02020603050405020304" pitchFamily="18" charset="0"/>
                      </a:endParaRPr>
                    </a:p>
                  </a:txBody>
                  <a:tcPr anchor="ctr"/>
                </a:tc>
                <a:tc>
                  <a:txBody>
                    <a:bodyPr/>
                    <a:lstStyle/>
                    <a:p>
                      <a:r>
                        <a:rPr lang="en-US" sz="1600" dirty="0">
                          <a:latin typeface="Times New Roman" panose="02020603050405020304" pitchFamily="18" charset="0"/>
                          <a:cs typeface="Times New Roman" panose="02020603050405020304" pitchFamily="18" charset="0"/>
                        </a:rPr>
                        <a:t>Presented an attention-based model that enhances the accuracy and speed of real-time driver distraction detection.</a:t>
                      </a:r>
                    </a:p>
                  </a:txBody>
                  <a:tcPr anchor="ctr"/>
                </a:tc>
                <a:extLst>
                  <a:ext uri="{0D108BD9-81ED-4DB2-BD59-A6C34878D82A}">
                    <a16:rowId xmlns:a16="http://schemas.microsoft.com/office/drawing/2014/main" val="15395855"/>
                  </a:ext>
                </a:extLst>
              </a:tr>
            </a:tbl>
          </a:graphicData>
        </a:graphic>
      </p:graphicFrame>
    </p:spTree>
    <p:extLst>
      <p:ext uri="{BB962C8B-B14F-4D97-AF65-F5344CB8AC3E}">
        <p14:creationId xmlns:p14="http://schemas.microsoft.com/office/powerpoint/2010/main" val="2009617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233351" y="441237"/>
            <a:ext cx="9725297" cy="793567"/>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IMPLEMENTATION</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TextBox 3"/>
          <p:cNvSpPr txBox="1"/>
          <p:nvPr/>
        </p:nvSpPr>
        <p:spPr>
          <a:xfrm>
            <a:off x="842041" y="653354"/>
            <a:ext cx="25603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Algorithm Definitions:</a:t>
            </a: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D0A03ABD-2CDF-4634-8266-28CE60CC1CCD}"/>
              </a:ext>
            </a:extLst>
          </p:cNvPr>
          <p:cNvSpPr/>
          <p:nvPr/>
        </p:nvSpPr>
        <p:spPr>
          <a:xfrm>
            <a:off x="842041" y="1733613"/>
            <a:ext cx="12555071" cy="458074"/>
          </a:xfrm>
          <a:prstGeom prst="rect">
            <a:avLst/>
          </a:prstGeom>
        </p:spPr>
        <p:txBody>
          <a:bodyPr wrap="square">
            <a:sp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1E9ACF1A-BCD9-4282-BC85-4C31C0DF1C7C}"/>
              </a:ext>
            </a:extLst>
          </p:cNvPr>
          <p:cNvSpPr/>
          <p:nvPr/>
        </p:nvSpPr>
        <p:spPr>
          <a:xfrm>
            <a:off x="842040" y="1100166"/>
            <a:ext cx="10713465" cy="4197559"/>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YOLOv10 is the latest version of the popular "You Only Look Once" real-time object detection models, developed by researchers at Tsinghua University. Its primary goal is to achieve an optimal balance between high accuracy and computational efficiency, surpassing previous models like YOLOv8 and YOLOv9. YOLOv10 introduces new architectural designs, specifically a "holistic efficiency-accuracy driven" approach, to streamline the network structure and improve performance without adding excessive computational cost.</a:t>
            </a:r>
          </a:p>
          <a:p>
            <a:pPr algn="just">
              <a:lnSpc>
                <a:spcPct val="150000"/>
              </a:lnSpc>
            </a:pPr>
            <a:r>
              <a:rPr lang="en-US" dirty="0">
                <a:latin typeface="Times New Roman" panose="02020603050405020304" pitchFamily="18" charset="0"/>
                <a:cs typeface="Times New Roman" panose="02020603050405020304" pitchFamily="18" charset="0"/>
              </a:rPr>
              <a:t>Key innovations include the use of efficient "consistent dual assignments" for training and refined architectural components. The result is a model that runs faster and more efficiently while maintaining or improving detection accuracy. The code is officially available on GitHub and integrated into the popular </a:t>
            </a:r>
            <a:r>
              <a:rPr lang="en-US" dirty="0" err="1">
                <a:latin typeface="Times New Roman" panose="02020603050405020304" pitchFamily="18" charset="0"/>
                <a:cs typeface="Times New Roman" panose="02020603050405020304" pitchFamily="18" charset="0"/>
              </a:rPr>
              <a:t>Ultralytics</a:t>
            </a:r>
            <a:r>
              <a:rPr lang="en-US" dirty="0">
                <a:latin typeface="Times New Roman" panose="02020603050405020304" pitchFamily="18" charset="0"/>
                <a:cs typeface="Times New Roman" panose="02020603050405020304" pitchFamily="18" charset="0"/>
              </a:rPr>
              <a:t> Python package, making it easy to implement. In simple terms, YOLOv10 represents the current state-of-the-art for fast, accurate object detection.</a:t>
            </a:r>
          </a:p>
        </p:txBody>
      </p:sp>
    </p:spTree>
    <p:extLst>
      <p:ext uri="{BB962C8B-B14F-4D97-AF65-F5344CB8AC3E}">
        <p14:creationId xmlns:p14="http://schemas.microsoft.com/office/powerpoint/2010/main" val="236948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2166" y="542543"/>
            <a:ext cx="9725297" cy="793567"/>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IMPLEMENTATION</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635726" y="939326"/>
            <a:ext cx="10972799" cy="458074"/>
          </a:xfrm>
          <a:prstGeom prst="rect">
            <a:avLst/>
          </a:prstGeom>
        </p:spPr>
        <p:txBody>
          <a:bodyPr wrap="square">
            <a:spAutoFit/>
          </a:bodyPr>
          <a:lstStyle/>
          <a:p>
            <a:pPr lvl="0"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A9577868-2B82-4E1F-8A38-32969E7D695C}"/>
              </a:ext>
            </a:extLst>
          </p:cNvPr>
          <p:cNvSpPr/>
          <p:nvPr/>
        </p:nvSpPr>
        <p:spPr>
          <a:xfrm>
            <a:off x="900954" y="1025221"/>
            <a:ext cx="10972799" cy="5444054"/>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Step 1: Dataset Collection &amp; Preparation</a:t>
            </a:r>
          </a:p>
          <a:p>
            <a:pPr algn="just">
              <a:lnSpc>
                <a:spcPct val="150000"/>
              </a:lnSpc>
            </a:pPr>
            <a:r>
              <a:rPr lang="en-IN" dirty="0">
                <a:latin typeface="Times New Roman" panose="02020603050405020304" pitchFamily="18" charset="0"/>
                <a:cs typeface="Times New Roman" panose="02020603050405020304" pitchFamily="18" charset="0"/>
              </a:rPr>
              <a:t>Gather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images of driver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a:t>
            </a:r>
          </a:p>
          <a:p>
            <a:pPr algn="just">
              <a:lnSpc>
                <a:spcPct val="150000"/>
              </a:lnSpc>
            </a:pPr>
            <a:r>
              <a:rPr lang="en-IN" dirty="0" err="1">
                <a:latin typeface="Times New Roman" panose="02020603050405020304" pitchFamily="18" charset="0"/>
                <a:cs typeface="Times New Roman" panose="02020603050405020304" pitchFamily="18" charset="0"/>
              </a:rPr>
              <a:t>Preprocess</a:t>
            </a:r>
            <a:r>
              <a:rPr lang="en-IN" dirty="0">
                <a:latin typeface="Times New Roman" panose="02020603050405020304" pitchFamily="18" charset="0"/>
                <a:cs typeface="Times New Roman" panose="02020603050405020304" pitchFamily="18" charset="0"/>
              </a:rPr>
              <a:t> and split into training/validation sets.</a:t>
            </a:r>
          </a:p>
          <a:p>
            <a:pPr algn="just">
              <a:lnSpc>
                <a:spcPct val="150000"/>
              </a:lnSpc>
            </a:pPr>
            <a:r>
              <a:rPr lang="en-IN" b="1" dirty="0">
                <a:latin typeface="Times New Roman" panose="02020603050405020304" pitchFamily="18" charset="0"/>
                <a:cs typeface="Times New Roman" panose="02020603050405020304" pitchFamily="18" charset="0"/>
              </a:rPr>
              <a:t>Step 2: Train YOLOv10 Model</a:t>
            </a:r>
          </a:p>
          <a:p>
            <a:pPr algn="just">
              <a:lnSpc>
                <a:spcPct val="150000"/>
              </a:lnSpc>
            </a:pPr>
            <a:r>
              <a:rPr lang="en-IN" dirty="0">
                <a:latin typeface="Times New Roman" panose="02020603050405020304" pitchFamily="18" charset="0"/>
                <a:cs typeface="Times New Roman" panose="02020603050405020304" pitchFamily="18" charset="0"/>
              </a:rPr>
              <a:t>Configure YOLOv10 with custom dataset.</a:t>
            </a:r>
          </a:p>
          <a:p>
            <a:pPr algn="just">
              <a:lnSpc>
                <a:spcPct val="150000"/>
              </a:lnSpc>
            </a:pPr>
            <a:r>
              <a:rPr lang="en-IN" dirty="0">
                <a:latin typeface="Times New Roman" panose="02020603050405020304" pitchFamily="18" charset="0"/>
                <a:cs typeface="Times New Roman" panose="02020603050405020304" pitchFamily="18" charset="0"/>
              </a:rPr>
              <a:t>Train, validate, and export the best-performing weights.</a:t>
            </a:r>
          </a:p>
          <a:p>
            <a:pPr algn="just">
              <a:lnSpc>
                <a:spcPct val="150000"/>
              </a:lnSpc>
            </a:pPr>
            <a:r>
              <a:rPr lang="en-IN" b="1" dirty="0">
                <a:latin typeface="Times New Roman" panose="02020603050405020304" pitchFamily="18" charset="0"/>
                <a:cs typeface="Times New Roman" panose="02020603050405020304" pitchFamily="18" charset="0"/>
              </a:rPr>
              <a:t>Step 3: Build Flask Backend</a:t>
            </a:r>
          </a:p>
          <a:p>
            <a:pPr algn="just">
              <a:lnSpc>
                <a:spcPct val="150000"/>
              </a:lnSpc>
            </a:pPr>
            <a:r>
              <a:rPr lang="en-IN" dirty="0">
                <a:latin typeface="Times New Roman" panose="02020603050405020304" pitchFamily="18" charset="0"/>
                <a:cs typeface="Times New Roman" panose="02020603050405020304" pitchFamily="18" charset="0"/>
              </a:rPr>
              <a:t>Integrate trained YOLOv10 model into Flask.</a:t>
            </a:r>
          </a:p>
          <a:p>
            <a:pPr algn="just">
              <a:lnSpc>
                <a:spcPct val="150000"/>
              </a:lnSpc>
            </a:pPr>
            <a:r>
              <a:rPr lang="en-IN" dirty="0">
                <a:latin typeface="Times New Roman" panose="02020603050405020304" pitchFamily="18" charset="0"/>
                <a:cs typeface="Times New Roman" panose="02020603050405020304" pitchFamily="18" charset="0"/>
              </a:rPr>
              <a:t>Create routes for login, registration, and detection.</a:t>
            </a: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Step 4: Create Frontend Interface</a:t>
            </a:r>
          </a:p>
          <a:p>
            <a:pPr algn="just">
              <a:lnSpc>
                <a:spcPct val="150000"/>
              </a:lnSpc>
            </a:pPr>
            <a:r>
              <a:rPr lang="en-US" dirty="0">
                <a:latin typeface="Times New Roman" panose="02020603050405020304" pitchFamily="18" charset="0"/>
                <a:cs typeface="Times New Roman" panose="02020603050405020304" pitchFamily="18" charset="0"/>
              </a:rPr>
              <a:t>Design Home, Login, Register, Detection pages using HTML, CSS, JS.</a:t>
            </a:r>
          </a:p>
          <a:p>
            <a:pPr algn="just">
              <a:lnSpc>
                <a:spcPct val="150000"/>
              </a:lnSpc>
            </a:pPr>
            <a:r>
              <a:rPr lang="en-US" dirty="0">
                <a:latin typeface="Times New Roman" panose="02020603050405020304" pitchFamily="18" charset="0"/>
                <a:cs typeface="Times New Roman" panose="02020603050405020304" pitchFamily="18" charset="0"/>
              </a:rPr>
              <a:t>Implement live video streaming from the camera.</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054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0B27FA-3B41-4C53-B0F4-8AB9EBCB737D}"/>
              </a:ext>
            </a:extLst>
          </p:cNvPr>
          <p:cNvSpPr/>
          <p:nvPr/>
        </p:nvSpPr>
        <p:spPr>
          <a:xfrm>
            <a:off x="972669" y="908478"/>
            <a:ext cx="10708342" cy="4197559"/>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Step 5: Implement Accurate Detection</a:t>
            </a:r>
          </a:p>
          <a:p>
            <a:pPr algn="just">
              <a:lnSpc>
                <a:spcPct val="150000"/>
              </a:lnSpc>
            </a:pPr>
            <a:r>
              <a:rPr lang="en-IN" dirty="0">
                <a:latin typeface="Times New Roman" panose="02020603050405020304" pitchFamily="18" charset="0"/>
                <a:cs typeface="Times New Roman" panose="02020603050405020304" pitchFamily="18" charset="0"/>
              </a:rPr>
              <a:t>Capture frames from the webcam.</a:t>
            </a:r>
          </a:p>
          <a:p>
            <a:pPr algn="just">
              <a:lnSpc>
                <a:spcPct val="150000"/>
              </a:lnSpc>
            </a:pPr>
            <a:r>
              <a:rPr lang="en-IN" dirty="0">
                <a:latin typeface="Times New Roman" panose="02020603050405020304" pitchFamily="18" charset="0"/>
                <a:cs typeface="Times New Roman" panose="02020603050405020304" pitchFamily="18" charset="0"/>
              </a:rPr>
              <a:t>Run inference using YOLOv10.</a:t>
            </a:r>
          </a:p>
          <a:p>
            <a:pPr algn="just">
              <a:lnSpc>
                <a:spcPct val="150000"/>
              </a:lnSpc>
            </a:pPr>
            <a:r>
              <a:rPr lang="en-IN" dirty="0">
                <a:latin typeface="Times New Roman" panose="02020603050405020304" pitchFamily="18" charset="0"/>
                <a:cs typeface="Times New Roman" panose="02020603050405020304" pitchFamily="18" charset="0"/>
              </a:rPr>
              <a:t>Display detected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in the browser.</a:t>
            </a:r>
          </a:p>
          <a:p>
            <a:pPr algn="just">
              <a:lnSpc>
                <a:spcPct val="150000"/>
              </a:lnSpc>
            </a:pPr>
            <a:r>
              <a:rPr lang="en-IN" b="1" dirty="0">
                <a:latin typeface="Times New Roman" panose="02020603050405020304" pitchFamily="18" charset="0"/>
                <a:cs typeface="Times New Roman" panose="02020603050405020304" pitchFamily="18" charset="0"/>
              </a:rPr>
              <a:t>Step 6: Email Alert System</a:t>
            </a:r>
          </a:p>
          <a:p>
            <a:pPr algn="just">
              <a:lnSpc>
                <a:spcPct val="150000"/>
              </a:lnSpc>
            </a:pPr>
            <a:r>
              <a:rPr lang="en-IN" dirty="0">
                <a:latin typeface="Times New Roman" panose="02020603050405020304" pitchFamily="18" charset="0"/>
                <a:cs typeface="Times New Roman" panose="02020603050405020304" pitchFamily="18" charset="0"/>
              </a:rPr>
              <a:t>Configure SMTP email service.</a:t>
            </a:r>
          </a:p>
          <a:p>
            <a:pPr algn="just">
              <a:lnSpc>
                <a:spcPct val="150000"/>
              </a:lnSpc>
            </a:pPr>
            <a:r>
              <a:rPr lang="en-IN" dirty="0">
                <a:latin typeface="Times New Roman" panose="02020603050405020304" pitchFamily="18" charset="0"/>
                <a:cs typeface="Times New Roman" panose="02020603050405020304" pitchFamily="18" charset="0"/>
              </a:rPr>
              <a:t>Trigger email notifications on unsafe actions (e.g., drowsy, distracted).</a:t>
            </a:r>
          </a:p>
          <a:p>
            <a:pPr algn="just">
              <a:lnSpc>
                <a:spcPct val="150000"/>
              </a:lnSpc>
            </a:pPr>
            <a:r>
              <a:rPr lang="en-IN" b="1" dirty="0">
                <a:latin typeface="Times New Roman" panose="02020603050405020304" pitchFamily="18" charset="0"/>
                <a:cs typeface="Times New Roman" panose="02020603050405020304" pitchFamily="18" charset="0"/>
              </a:rPr>
              <a:t>Step 7: User Authentication &amp; Session Management</a:t>
            </a:r>
          </a:p>
          <a:p>
            <a:pPr algn="just">
              <a:lnSpc>
                <a:spcPct val="150000"/>
              </a:lnSpc>
            </a:pPr>
            <a:r>
              <a:rPr lang="en-IN" dirty="0">
                <a:latin typeface="Times New Roman" panose="02020603050405020304" pitchFamily="18" charset="0"/>
                <a:cs typeface="Times New Roman" panose="02020603050405020304" pitchFamily="18" charset="0"/>
              </a:rPr>
              <a:t>Store user credentials.</a:t>
            </a:r>
          </a:p>
          <a:p>
            <a:pPr algn="just">
              <a:lnSpc>
                <a:spcPct val="150000"/>
              </a:lnSpc>
            </a:pPr>
            <a:r>
              <a:rPr lang="en-IN" dirty="0">
                <a:latin typeface="Times New Roman" panose="02020603050405020304" pitchFamily="18" charset="0"/>
                <a:cs typeface="Times New Roman" panose="02020603050405020304" pitchFamily="18" charset="0"/>
              </a:rPr>
              <a:t>Enable login, logout, and secure access.</a:t>
            </a:r>
          </a:p>
        </p:txBody>
      </p:sp>
    </p:spTree>
    <p:extLst>
      <p:ext uri="{BB962C8B-B14F-4D97-AF65-F5344CB8AC3E}">
        <p14:creationId xmlns:p14="http://schemas.microsoft.com/office/powerpoint/2010/main" val="3748706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54311" y="0"/>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REFERENCES</a:t>
            </a:r>
          </a:p>
        </p:txBody>
      </p:sp>
      <p:sp>
        <p:nvSpPr>
          <p:cNvPr id="8" name="Rectangle 7"/>
          <p:cNvSpPr/>
          <p:nvPr/>
        </p:nvSpPr>
        <p:spPr>
          <a:xfrm>
            <a:off x="854311" y="1154526"/>
            <a:ext cx="11086012" cy="4613058"/>
          </a:xfrm>
          <a:prstGeom prst="rect">
            <a:avLst/>
          </a:prstGeom>
        </p:spPr>
        <p:txBody>
          <a:bodyPr wrap="square">
            <a:spAutoFit/>
          </a:bodyPr>
          <a:lstStyle/>
          <a:p>
            <a:pPr lvl="0" algn="just">
              <a:lnSpc>
                <a:spcPct val="150000"/>
              </a:lnSpc>
            </a:pPr>
            <a:r>
              <a:rPr lang="en-US" dirty="0">
                <a:latin typeface="Times New Roman" panose="02020603050405020304" pitchFamily="18" charset="0"/>
                <a:cs typeface="Times New Roman" panose="02020603050405020304" pitchFamily="18" charset="0"/>
              </a:rPr>
              <a:t>Safarov, F., </a:t>
            </a:r>
            <a:r>
              <a:rPr lang="en-US" dirty="0" err="1">
                <a:latin typeface="Times New Roman" panose="02020603050405020304" pitchFamily="18" charset="0"/>
                <a:cs typeface="Times New Roman" panose="02020603050405020304" pitchFamily="18" charset="0"/>
              </a:rPr>
              <a:t>Akhmedov</a:t>
            </a:r>
            <a:r>
              <a:rPr lang="en-US" dirty="0">
                <a:latin typeface="Times New Roman" panose="02020603050405020304" pitchFamily="18" charset="0"/>
                <a:cs typeface="Times New Roman" panose="02020603050405020304" pitchFamily="18" charset="0"/>
              </a:rPr>
              <a:t>, F., </a:t>
            </a:r>
            <a:r>
              <a:rPr lang="en-US" dirty="0" err="1">
                <a:latin typeface="Times New Roman" panose="02020603050405020304" pitchFamily="18" charset="0"/>
                <a:cs typeface="Times New Roman" panose="02020603050405020304" pitchFamily="18" charset="0"/>
              </a:rPr>
              <a:t>Abdusalomov</a:t>
            </a:r>
            <a:r>
              <a:rPr lang="en-US" dirty="0">
                <a:latin typeface="Times New Roman" panose="02020603050405020304" pitchFamily="18" charset="0"/>
                <a:cs typeface="Times New Roman" panose="02020603050405020304" pitchFamily="18" charset="0"/>
              </a:rPr>
              <a:t>, A. B., </a:t>
            </a:r>
            <a:r>
              <a:rPr lang="en-US" dirty="0" err="1">
                <a:latin typeface="Times New Roman" panose="02020603050405020304" pitchFamily="18" charset="0"/>
                <a:cs typeface="Times New Roman" panose="02020603050405020304" pitchFamily="18" charset="0"/>
              </a:rPr>
              <a:t>Nasimov</a:t>
            </a:r>
            <a:r>
              <a:rPr lang="en-US" dirty="0">
                <a:latin typeface="Times New Roman" panose="02020603050405020304" pitchFamily="18" charset="0"/>
                <a:cs typeface="Times New Roman" panose="02020603050405020304" pitchFamily="18" charset="0"/>
              </a:rPr>
              <a:t>, R., &amp; Cho, Y. I. (2023). Real-Time Deep Learning-Based Drowsiness Detection: Leveraging Computer-Vision and Eye-Blink Analyses for Enhanced Road Safety. </a:t>
            </a:r>
            <a:r>
              <a:rPr lang="en-US" i="1" dirty="0">
                <a:latin typeface="Times New Roman" panose="02020603050405020304" pitchFamily="18" charset="0"/>
                <a:cs typeface="Times New Roman" panose="02020603050405020304" pitchFamily="18" charset="0"/>
              </a:rPr>
              <a:t>Sensors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2"/>
              </a:rPr>
              <a:t>https://doi.org/10.3390/s23146459</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3" tooltip="Real-Time Deep Learning-Based Drowsiness Detection: Leveraging Computer-Vision and Eye-Blink Analyses for Enhanced Road Safety"/>
              </a:rPr>
              <a:t>MDPI</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F. M. (2023). Detection of Drowsiness among Drivers Using Novel Deep Convolutional Neural Network Model. </a:t>
            </a:r>
            <a:r>
              <a:rPr lang="en-US" i="1" dirty="0">
                <a:latin typeface="Times New Roman" panose="02020603050405020304" pitchFamily="18" charset="0"/>
                <a:cs typeface="Times New Roman" panose="02020603050405020304" pitchFamily="18" charset="0"/>
              </a:rPr>
              <a:t>Sensors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4"/>
              </a:rPr>
              <a:t>https://doi.org/10.3390/s23218741</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5" tooltip="Detection of Drowsiness among Drivers Using Novel Deep Convolutional Neural Network Model"/>
              </a:rPr>
              <a:t>MDPI</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A. C. Phan, … (2023). Driver drowsiness detection and smart alerting using deep learning and IoT. </a:t>
            </a:r>
            <a:r>
              <a:rPr lang="en-US" i="1" dirty="0">
                <a:latin typeface="Times New Roman" panose="02020603050405020304" pitchFamily="18" charset="0"/>
                <a:cs typeface="Times New Roman" panose="02020603050405020304" pitchFamily="18" charset="0"/>
              </a:rPr>
              <a:t>ScienceDirect</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6"/>
              </a:rPr>
              <a:t>https://doi.org/10.1016/j.something.S2542660523000288</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7" tooltip="Driver drowsiness detection and smart alerting using deep ..."/>
              </a:rPr>
              <a:t>ScienceDirect</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Q. Shen, … (2024). Distracted Driving Behavior Detection Algorithm Based on </a:t>
            </a:r>
            <a:r>
              <a:rPr lang="en-US" dirty="0" err="1">
                <a:latin typeface="Times New Roman" panose="02020603050405020304" pitchFamily="18" charset="0"/>
                <a:cs typeface="Times New Roman" panose="02020603050405020304" pitchFamily="18" charset="0"/>
              </a:rPr>
              <a:t>StarDL</a:t>
            </a:r>
            <a:r>
              <a:rPr lang="en-US" dirty="0">
                <a:latin typeface="Times New Roman" panose="02020603050405020304" pitchFamily="18" charset="0"/>
                <a:cs typeface="Times New Roman" panose="02020603050405020304" pitchFamily="18" charset="0"/>
              </a:rPr>
              <a:t>-YOLO. </a:t>
            </a:r>
            <a:r>
              <a:rPr lang="en-US" i="1" dirty="0">
                <a:latin typeface="Times New Roman" panose="02020603050405020304" pitchFamily="18" charset="0"/>
                <a:cs typeface="Times New Roman" panose="02020603050405020304" pitchFamily="18" charset="0"/>
              </a:rPr>
              <a:t>Electronics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8"/>
              </a:rPr>
              <a:t>https://doi.org/10.3390/electronics13163216</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9" tooltip="Distracted Driving Behavior Detection Algorithm Based on ..."/>
              </a:rPr>
              <a:t>MDPI</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H. Gao, … (2024). Improving real-time driver distraction detection via constrained attention mechanism. </a:t>
            </a:r>
            <a:r>
              <a:rPr lang="en-US" i="1" dirty="0">
                <a:latin typeface="Times New Roman" panose="02020603050405020304" pitchFamily="18" charset="0"/>
                <a:cs typeface="Times New Roman" panose="02020603050405020304" pitchFamily="18" charset="0"/>
              </a:rPr>
              <a:t>Elsevier</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10"/>
              </a:rPr>
              <a:t>https://doi.org/10.1016/j.ins.2023.09.062</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11" tooltip="Improving real-time driver distraction detection via ..."/>
              </a:rPr>
              <a:t>ScienceDirect</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886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61888" y="0"/>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REFERENCES</a:t>
            </a:r>
          </a:p>
        </p:txBody>
      </p:sp>
      <p:sp>
        <p:nvSpPr>
          <p:cNvPr id="5" name="Rectangle 4">
            <a:extLst>
              <a:ext uri="{FF2B5EF4-FFF2-40B4-BE49-F238E27FC236}">
                <a16:creationId xmlns:a16="http://schemas.microsoft.com/office/drawing/2014/main" id="{601FFB03-F4A2-454A-97F6-EA34E3065B01}"/>
              </a:ext>
            </a:extLst>
          </p:cNvPr>
          <p:cNvSpPr/>
          <p:nvPr/>
        </p:nvSpPr>
        <p:spPr>
          <a:xfrm>
            <a:off x="961888" y="1122471"/>
            <a:ext cx="10575688" cy="5028556"/>
          </a:xfrm>
          <a:prstGeom prst="rect">
            <a:avLst/>
          </a:prstGeom>
        </p:spPr>
        <p:txBody>
          <a:bodyPr wrap="square">
            <a:spAutoFit/>
          </a:bodyPr>
          <a:lstStyle/>
          <a:p>
            <a:pPr lvl="0" algn="just">
              <a:lnSpc>
                <a:spcPct val="150000"/>
              </a:lnSpc>
            </a:pPr>
            <a:r>
              <a:rPr lang="en-US" dirty="0">
                <a:latin typeface="Times New Roman" panose="02020603050405020304" pitchFamily="18" charset="0"/>
                <a:cs typeface="Times New Roman" panose="02020603050405020304" pitchFamily="18" charset="0"/>
              </a:rPr>
              <a:t>C. </a:t>
            </a:r>
            <a:r>
              <a:rPr lang="en-US" dirty="0" err="1">
                <a:latin typeface="Times New Roman" panose="02020603050405020304" pitchFamily="18" charset="0"/>
                <a:cs typeface="Times New Roman" panose="02020603050405020304" pitchFamily="18" charset="0"/>
              </a:rPr>
              <a:t>Khraief</a:t>
            </a:r>
            <a:r>
              <a:rPr lang="en-US" dirty="0">
                <a:latin typeface="Times New Roman" panose="02020603050405020304" pitchFamily="18" charset="0"/>
                <a:cs typeface="Times New Roman" panose="02020603050405020304" pitchFamily="18" charset="0"/>
              </a:rPr>
              <a:t> Ouled </a:t>
            </a:r>
            <a:r>
              <a:rPr lang="en-US" dirty="0" err="1">
                <a:latin typeface="Times New Roman" panose="02020603050405020304" pitchFamily="18" charset="0"/>
                <a:cs typeface="Times New Roman" panose="02020603050405020304" pitchFamily="18" charset="0"/>
              </a:rPr>
              <a:t>Azaiz</a:t>
            </a:r>
            <a:r>
              <a:rPr lang="en-US" dirty="0">
                <a:latin typeface="Times New Roman" panose="02020603050405020304" pitchFamily="18" charset="0"/>
                <a:cs typeface="Times New Roman" panose="02020603050405020304" pitchFamily="18" charset="0"/>
              </a:rPr>
              <a:t>, … (2023). In-cabin occupant monitoring system based on improved YOLO, deep reinforcement learning, and multi-task CNN. </a:t>
            </a:r>
            <a:r>
              <a:rPr lang="en-US" i="1" dirty="0">
                <a:latin typeface="Times New Roman" panose="02020603050405020304" pitchFamily="18" charset="0"/>
                <a:cs typeface="Times New Roman" panose="02020603050405020304" pitchFamily="18" charset="0"/>
              </a:rPr>
              <a:t>SPIE Proceedings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2"/>
              </a:rPr>
              <a:t>https://doi.org/10.1117/12.XXXXX</a:t>
            </a:r>
            <a:r>
              <a:rPr lang="en-US" dirty="0">
                <a:latin typeface="Times New Roman" panose="02020603050405020304" pitchFamily="18" charset="0"/>
                <a:cs typeface="Times New Roman" panose="02020603050405020304" pitchFamily="18" charset="0"/>
              </a:rPr>
              <a:t> (2023) (</a:t>
            </a:r>
            <a:r>
              <a:rPr lang="en-US" u="sng" dirty="0" err="1">
                <a:latin typeface="Times New Roman" panose="02020603050405020304" pitchFamily="18" charset="0"/>
                <a:cs typeface="Times New Roman" panose="02020603050405020304" pitchFamily="18" charset="0"/>
                <a:hlinkClick r:id="rId3" tooltip="In-cabin occupant monitoring system based on improved ..."/>
              </a:rPr>
              <a:t>Adsabs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F. </a:t>
            </a:r>
            <a:r>
              <a:rPr lang="en-US" dirty="0" err="1">
                <a:latin typeface="Times New Roman" panose="02020603050405020304" pitchFamily="18" charset="0"/>
                <a:cs typeface="Times New Roman" panose="02020603050405020304" pitchFamily="18" charset="0"/>
              </a:rPr>
              <a:t>Zandamela</a:t>
            </a:r>
            <a:r>
              <a:rPr lang="en-US" dirty="0">
                <a:latin typeface="Times New Roman" panose="02020603050405020304" pitchFamily="18" charset="0"/>
                <a:cs typeface="Times New Roman" panose="02020603050405020304" pitchFamily="18" charset="0"/>
              </a:rPr>
              <a:t>, D. Kunene, V. </a:t>
            </a:r>
            <a:r>
              <a:rPr lang="en-US" dirty="0" err="1">
                <a:latin typeface="Times New Roman" panose="02020603050405020304" pitchFamily="18" charset="0"/>
                <a:cs typeface="Times New Roman" panose="02020603050405020304" pitchFamily="18" charset="0"/>
              </a:rPr>
              <a:t>Skosana</a:t>
            </a:r>
            <a:r>
              <a:rPr lang="en-US" dirty="0">
                <a:latin typeface="Times New Roman" panose="02020603050405020304" pitchFamily="18" charset="0"/>
                <a:cs typeface="Times New Roman" panose="02020603050405020304" pitchFamily="18" charset="0"/>
              </a:rPr>
              <a:t> &amp; G. Stoltz (2024). Lightweight YOLO for distracted driver detection on edge devices. </a:t>
            </a:r>
            <a:r>
              <a:rPr lang="en-US" i="1" dirty="0">
                <a:latin typeface="Times New Roman" panose="02020603050405020304" pitchFamily="18" charset="0"/>
                <a:cs typeface="Times New Roman" panose="02020603050405020304" pitchFamily="18" charset="0"/>
              </a:rPr>
              <a:t>MATEC Web of Conferences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4"/>
              </a:rPr>
              <a:t>https://doi.org/10.1051/matecconf/202440610001</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5" tooltip="Lightweight YOLO for distracted driver detection on edge ..."/>
              </a:rPr>
              <a:t>ResearchGate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R. </a:t>
            </a:r>
            <a:r>
              <a:rPr lang="en-US" dirty="0" err="1">
                <a:latin typeface="Times New Roman" panose="02020603050405020304" pitchFamily="18" charset="0"/>
                <a:cs typeface="Times New Roman" panose="02020603050405020304" pitchFamily="18" charset="0"/>
              </a:rPr>
              <a:t>Salakapuri</a:t>
            </a:r>
            <a:r>
              <a:rPr lang="en-US" dirty="0">
                <a:latin typeface="Times New Roman" panose="02020603050405020304" pitchFamily="18" charset="0"/>
                <a:cs typeface="Times New Roman" panose="02020603050405020304" pitchFamily="18" charset="0"/>
              </a:rPr>
              <a:t>, … (2025). Integrated deep learning framework for driver distraction detection combining CNNs and YOLO. </a:t>
            </a:r>
            <a:r>
              <a:rPr lang="en-US" i="1" dirty="0">
                <a:latin typeface="Times New Roman" panose="02020603050405020304" pitchFamily="18" charset="0"/>
                <a:cs typeface="Times New Roman" panose="02020603050405020304" pitchFamily="18" charset="0"/>
              </a:rPr>
              <a:t>Scientific Reports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6"/>
              </a:rPr>
              <a:t>https://doi.org/10.1038/s41598-025-08475-4</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7" tooltip="Integrated deep learning framework for driver distraction ..."/>
              </a:rPr>
              <a:t>Nature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Y. Ma, V. Sanchez, S. </a:t>
            </a:r>
            <a:r>
              <a:rPr lang="en-US" dirty="0" err="1">
                <a:latin typeface="Times New Roman" panose="02020603050405020304" pitchFamily="18" charset="0"/>
                <a:cs typeface="Times New Roman" panose="02020603050405020304" pitchFamily="18" charset="0"/>
              </a:rPr>
              <a:t>Nikan</a:t>
            </a:r>
            <a:r>
              <a:rPr lang="en-US" dirty="0">
                <a:latin typeface="Times New Roman" panose="02020603050405020304" pitchFamily="18" charset="0"/>
                <a:cs typeface="Times New Roman" panose="02020603050405020304" pitchFamily="18" charset="0"/>
              </a:rPr>
              <a:t>, D. Upadhyay, B. </a:t>
            </a:r>
            <a:r>
              <a:rPr lang="en-US" dirty="0" err="1">
                <a:latin typeface="Times New Roman" panose="02020603050405020304" pitchFamily="18" charset="0"/>
                <a:cs typeface="Times New Roman" panose="02020603050405020304" pitchFamily="18" charset="0"/>
              </a:rPr>
              <a:t>Atote</a:t>
            </a:r>
            <a:r>
              <a:rPr lang="en-US" dirty="0">
                <a:latin typeface="Times New Roman" panose="02020603050405020304" pitchFamily="18" charset="0"/>
                <a:cs typeface="Times New Roman" panose="02020603050405020304" pitchFamily="18" charset="0"/>
              </a:rPr>
              <a:t> &amp; T. Guha (2023). Robust Multiview Multimodal Driver Monitoring System Using Masked Multi-Head Self-Attention. </a:t>
            </a:r>
            <a:r>
              <a:rPr lang="en-US" i="1" dirty="0" err="1">
                <a:latin typeface="Times New Roman" panose="02020603050405020304" pitchFamily="18" charset="0"/>
                <a:cs typeface="Times New Roman" panose="02020603050405020304" pitchFamily="18" charset="0"/>
              </a:rPr>
              <a:t>arXiv</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8"/>
              </a:rPr>
              <a:t>https://arxiv.org/abs/2304.06370</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9" tooltip="Robust Multiview Multimodal Driver Monitoring System Using Masked Multi-Head Self-Attention"/>
              </a:rPr>
              <a:t>arXiv</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lgn="just">
              <a:lnSpc>
                <a:spcPct val="150000"/>
              </a:lnSpc>
            </a:pPr>
            <a:r>
              <a:rPr lang="en-US" dirty="0">
                <a:latin typeface="Times New Roman" panose="02020603050405020304" pitchFamily="18" charset="0"/>
                <a:cs typeface="Times New Roman" panose="02020603050405020304" pitchFamily="18" charset="0"/>
              </a:rPr>
              <a:t>F. Qu, … (2024). Comprehensive study of driver behavior monitoring systems based on neural networks: taxonomy, challenges, and future directions. </a:t>
            </a:r>
            <a:r>
              <a:rPr lang="en-US" i="1" dirty="0">
                <a:latin typeface="Times New Roman" panose="02020603050405020304" pitchFamily="18" charset="0"/>
                <a:cs typeface="Times New Roman" panose="02020603050405020304" pitchFamily="18" charset="0"/>
              </a:rPr>
              <a:t>Journal of Big Data</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10"/>
              </a:rPr>
              <a:t>https://doi.org/10.1186/s40537-024-00890-0</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11" tooltip="Comprehensive study of driver behavior monitoring systems ..."/>
              </a:rPr>
              <a:t>SpringerOpen</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49520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788A2F88-55C5-4ED1-9541-807C65424763}">
  <ds:schemaRefs>
    <ds:schemaRef ds:uri="http://schemas.microsoft.com/office/2006/documentManagement/types"/>
    <ds:schemaRef ds:uri="http://purl.org/dc/elements/1.1/"/>
    <ds:schemaRef ds:uri="http://www.w3.org/XML/1998/namespace"/>
    <ds:schemaRef ds:uri="http://schemas.microsoft.com/office/infopath/2007/PartnerControls"/>
    <ds:schemaRef ds:uri="http://purl.org/dc/dcmitype/"/>
    <ds:schemaRef ds:uri="71af3243-3dd4-4a8d-8c0d-dd76da1f02a5"/>
    <ds:schemaRef ds:uri="http://schemas.microsoft.com/office/2006/metadata/properties"/>
    <ds:schemaRef ds:uri="http://schemas.openxmlformats.org/package/2006/metadata/core-properties"/>
    <ds:schemaRef ds:uri="16c05727-aa75-4e4a-9b5f-8a80a1165891"/>
    <ds:schemaRef ds:uri="http://purl.org/dc/terms/"/>
  </ds:schemaRefs>
</ds:datastoreItem>
</file>

<file path=docProps/app.xml><?xml version="1.0" encoding="utf-8"?>
<Properties xmlns="http://schemas.openxmlformats.org/officeDocument/2006/extended-properties" xmlns:vt="http://schemas.openxmlformats.org/officeDocument/2006/docPropsVTypes">
  <Template>Integral design</Template>
  <TotalTime>0</TotalTime>
  <Words>2697</Words>
  <Application>Microsoft Office PowerPoint</Application>
  <PresentationFormat>Widescreen</PresentationFormat>
  <Paragraphs>130</Paragraphs>
  <Slides>20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SimSun</vt:lpstr>
      <vt:lpstr>Arial</vt:lpstr>
      <vt:lpstr>Bahnschrift</vt:lpstr>
      <vt:lpstr>Calibri</vt:lpstr>
      <vt:lpstr>Calibri Light</vt:lpstr>
      <vt:lpstr>Times New Roman</vt:lpstr>
      <vt:lpstr>Tw Cen MT</vt:lpstr>
      <vt:lpstr>Tw Cen MT Condensed</vt:lpstr>
      <vt:lpstr>Wingdings</vt:lpstr>
      <vt:lpstr>Wingdings 3</vt:lpstr>
      <vt:lpstr>Integral</vt:lpstr>
      <vt:lpstr>PowerPoint Presentation</vt:lpstr>
      <vt:lpstr>TABLE OF CONTENTS</vt:lpstr>
      <vt:lpstr>PROJECT DESCRIPTION </vt:lpstr>
      <vt:lpstr>PROBLEM STATEMENT </vt:lpstr>
      <vt:lpstr>OBJECTIVE OF PROJECT </vt:lpstr>
      <vt:lpstr>SCOPE </vt:lpstr>
      <vt:lpstr>SIGNIFICANCE OF PROJECT </vt:lpstr>
      <vt:lpstr>EXISTING SYSTEM </vt:lpstr>
      <vt:lpstr>Disadvantages of Existing System </vt:lpstr>
      <vt:lpstr>PROPOSED SYSTEM </vt:lpstr>
      <vt:lpstr>Advantages of Proposed System</vt:lpstr>
      <vt:lpstr>PROJECT FLOW </vt:lpstr>
      <vt:lpstr>Resource Requirements </vt:lpstr>
      <vt:lpstr>RESEARCH GAP ANALYSIS </vt:lpstr>
      <vt:lpstr>LITERATURE SURVEY  </vt:lpstr>
      <vt:lpstr>IMPLEMENTATION  </vt:lpstr>
      <vt:lpstr>IMPLEMENTATION  </vt:lpstr>
      <vt:lpstr>PowerPoint Presentation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2024-07-31T06:09:48Z</dcterms:created>
  <dcterms:modified xsi:type="dcterms:W3CDTF">2025-11-26T13:10:47Z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